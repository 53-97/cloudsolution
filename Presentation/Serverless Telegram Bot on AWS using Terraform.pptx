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anose="020B0604020202020204" charset="-122"/>
      <p:regular r:id="rId30"/>
    </p:embeddedFont>
    <p:embeddedFont>
      <p:font typeface="Liter" panose="020B0604020202020204" charset="0"/>
      <p:regular r:id="rId31"/>
    </p:embeddedFont>
    <p:embeddedFont>
      <p:font typeface="Quattrocento Sans" panose="020B05020500000200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42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brocoders.com/f1e06ee2531482ce5a60d11cc837958556b71bbe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9866" r="98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90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FF9900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1000" y="433388"/>
            <a:ext cx="2798445" cy="426720"/>
          </a:xfrm>
          <a:custGeom>
            <a:avLst/>
            <a:gdLst/>
            <a:ahLst/>
            <a:cxnLst/>
            <a:rect l="l" t="t" r="r" b="b"/>
            <a:pathLst>
              <a:path w="2798445" h="426720">
                <a:moveTo>
                  <a:pt x="213360" y="0"/>
                </a:moveTo>
                <a:lnTo>
                  <a:pt x="2585085" y="0"/>
                </a:lnTo>
                <a:cubicBezTo>
                  <a:pt x="2702920" y="0"/>
                  <a:pt x="2798445" y="95525"/>
                  <a:pt x="2798445" y="213360"/>
                </a:cubicBezTo>
                <a:lnTo>
                  <a:pt x="2798445" y="213360"/>
                </a:lnTo>
                <a:cubicBezTo>
                  <a:pt x="2798445" y="331195"/>
                  <a:pt x="2702920" y="426720"/>
                  <a:pt x="25850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79120" y="685043"/>
            <a:ext cx="2496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350" b="1" kern="0" spc="68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Solutions (k_MCS_010)</a:t>
            </a:r>
            <a:br>
              <a:rPr lang="fr-FR" sz="1350" b="1" kern="0" spc="68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93039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Telegram Bot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AWS using Terraform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0" y="344119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as Code • Serverless Architecture • Production-Grade    Observability</a:t>
            </a:r>
          </a:p>
          <a:p>
            <a:pPr>
              <a:lnSpc>
                <a:spcPct val="140000"/>
              </a:lnSpc>
            </a:pPr>
            <a:endParaRPr lang="en-US" sz="1800" dirty="0">
              <a:solidFill>
                <a:srgbClr val="E8EAED">
                  <a:alpha val="8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4810" y="5246370"/>
            <a:ext cx="3646170" cy="1226820"/>
          </a:xfrm>
          <a:custGeom>
            <a:avLst/>
            <a:gdLst/>
            <a:ahLst/>
            <a:cxnLst/>
            <a:rect l="l" t="t" r="r" b="b"/>
            <a:pathLst>
              <a:path w="3646170" h="122682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1150622"/>
                </a:lnTo>
                <a:cubicBezTo>
                  <a:pt x="3646170" y="1192705"/>
                  <a:pt x="3612055" y="1226820"/>
                  <a:pt x="3569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579120" y="5391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31545" y="53530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" y="5745052"/>
            <a:ext cx="3303270" cy="845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Abhishek Negi (100004670),</a:t>
            </a:r>
          </a:p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Shreeraj Patil (100004823), </a:t>
            </a:r>
          </a:p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Nirbhay Rohatgi(100003084)</a:t>
            </a:r>
            <a:br>
              <a:rPr lang="en-US" sz="1200" b="1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4271010" y="5246370"/>
            <a:ext cx="3646170" cy="1226820"/>
          </a:xfrm>
          <a:custGeom>
            <a:avLst/>
            <a:gdLst/>
            <a:ahLst/>
            <a:cxnLst/>
            <a:rect l="l" t="t" r="r" b="b"/>
            <a:pathLst>
              <a:path w="3646170" h="122682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1150622"/>
                </a:lnTo>
                <a:cubicBezTo>
                  <a:pt x="3646170" y="1192705"/>
                  <a:pt x="3612055" y="1226820"/>
                  <a:pt x="3569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477226" y="54787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17745" y="544068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65320" y="582168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• API Gateway • DynamoDB • S3 • Terraform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57210" y="5246370"/>
            <a:ext cx="3646170" cy="1226820"/>
          </a:xfrm>
          <a:custGeom>
            <a:avLst/>
            <a:gdLst/>
            <a:ahLst/>
            <a:cxnLst/>
            <a:rect l="l" t="t" r="r" b="b"/>
            <a:pathLst>
              <a:path w="3646170" h="122682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1150622"/>
                </a:lnTo>
                <a:cubicBezTo>
                  <a:pt x="3646170" y="1192705"/>
                  <a:pt x="3612055" y="1226820"/>
                  <a:pt x="3569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8387239" y="547878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703945" y="5440680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51520" y="582168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February 2026</a:t>
            </a:r>
            <a:endParaRPr lang="en-US" sz="1600" dirty="0"/>
          </a:p>
        </p:txBody>
      </p:sp>
      <p:pic>
        <p:nvPicPr>
          <p:cNvPr id="20" name="Picture 6" descr="Telegram Icon Stock Illustrations – 3,098 Telegram Icon Stock  Illustrations, Vectors &amp; Clipart - Dreamstime">
            <a:extLst>
              <a:ext uri="{FF2B5EF4-FFF2-40B4-BE49-F238E27FC236}">
                <a16:creationId xmlns:a16="http://schemas.microsoft.com/office/drawing/2014/main" id="{1A98CD16-CE35-E0C0-1704-ABFDDF18A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000" y1="48500" x2="57625" y2="51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324" y="764616"/>
            <a:ext cx="1865772" cy="186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F5275E-3D6B-2FCE-F341-6CFDB9340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686" y="2305219"/>
            <a:ext cx="1953877" cy="10990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F0DE52-91BF-0A02-BA4F-5FE41A1AA4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77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7595" y="17526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1676400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Goals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019300"/>
            <a:ext cx="2762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Objectives, outcomes, and project scope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447800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10300" y="1447800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5795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47128" y="17526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3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7550" y="1676400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Development Journey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7550" y="2019300"/>
            <a:ext cx="3181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and phased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752725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0050" y="2752725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7700" y="2981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5925" y="30575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2981325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as Code with Terraform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324225"/>
            <a:ext cx="3267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structure, remote state, and automation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2752725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0300" y="2752725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57950" y="2981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46295" y="30575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3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67550" y="2981325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IAM Implementation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67550" y="3324225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 access control and hardening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057650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00050" y="4057650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7700" y="428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7473" y="4362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7300" y="428625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Functionality &amp; External APIs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4629150"/>
            <a:ext cx="3019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commands and third-party integrations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4057650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10300" y="4057650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57950" y="428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45223" y="4362450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3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67550" y="42862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 &amp; Monitoring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67550" y="462915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 and CloudWatch alerts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62575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00050" y="5362575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47700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44855" y="56673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57300" y="5591175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Migration &amp; Best Practices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57300" y="5934075"/>
            <a:ext cx="331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LocalStack to AWS and continuous improvement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0300" y="5362575"/>
            <a:ext cx="5600700" cy="1114425"/>
          </a:xfrm>
          <a:custGeom>
            <a:avLst/>
            <a:gdLst/>
            <a:ahLst/>
            <a:cxnLst/>
            <a:rect l="l" t="t" r="r" b="b"/>
            <a:pathLst>
              <a:path w="5600700" h="1114425">
                <a:moveTo>
                  <a:pt x="38100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38221"/>
                </a:lnTo>
                <a:cubicBezTo>
                  <a:pt x="5600700" y="1080307"/>
                  <a:pt x="5566582" y="1114425"/>
                  <a:pt x="5524496" y="1114425"/>
                </a:cubicBez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210300" y="5362575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38100" y="0"/>
                </a:lnTo>
                <a:lnTo>
                  <a:pt x="38100" y="1114425"/>
                </a:lnTo>
                <a:lnTo>
                  <a:pt x="38100" y="1114425"/>
                </a:lnTo>
                <a:cubicBezTo>
                  <a:pt x="17072" y="1114425"/>
                  <a:pt x="0" y="1097353"/>
                  <a:pt x="0" y="1076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57950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43437" y="566737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3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67550" y="5591175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&amp; Key Learnings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67550" y="5934075"/>
            <a:ext cx="2628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demonstration and insights gained</a:t>
            </a:r>
            <a:endParaRPr lang="en-US" sz="16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C27871C-EB83-000B-D4F9-21146C6F3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99210"/>
            <a:ext cx="5589270" cy="5170170"/>
          </a:xfrm>
          <a:custGeom>
            <a:avLst/>
            <a:gdLst/>
            <a:ahLst/>
            <a:cxnLst/>
            <a:rect l="l" t="t" r="r" b="b"/>
            <a:pathLst>
              <a:path w="5589270" h="5170170">
                <a:moveTo>
                  <a:pt x="76208" y="0"/>
                </a:moveTo>
                <a:lnTo>
                  <a:pt x="5513062" y="0"/>
                </a:lnTo>
                <a:cubicBezTo>
                  <a:pt x="5555150" y="0"/>
                  <a:pt x="5589270" y="34120"/>
                  <a:pt x="5589270" y="76208"/>
                </a:cubicBezTo>
                <a:lnTo>
                  <a:pt x="5589270" y="5093962"/>
                </a:lnTo>
                <a:cubicBezTo>
                  <a:pt x="5589270" y="5136050"/>
                  <a:pt x="5555150" y="5170170"/>
                  <a:pt x="5513062" y="5170170"/>
                </a:cubicBezTo>
                <a:lnTo>
                  <a:pt x="76208" y="5170170"/>
                </a:lnTo>
                <a:cubicBezTo>
                  <a:pt x="34120" y="5170170"/>
                  <a:pt x="0" y="5136050"/>
                  <a:pt x="0" y="509396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7220" y="1531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2470" y="16268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2520" y="1569720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084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1514" y="21412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2065020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Fully Serverless Telegram 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93620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architecture with zero server management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" y="26555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1514" y="27127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263652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Infrastructure using Terraform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86512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as Code for reproducible deployments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" y="3227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1514" y="32842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20802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User Data &amp; Files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43662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 for state persistence, S3 for file storage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" y="37985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514" y="38557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3779520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Migrate from LocalStack → Real AWS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008120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Environment-agnostic deployment strategy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" y="4370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1514" y="44272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0120" y="4351020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Observability &amp; External APIs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579620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Production-grade logging, monitoring, and integrations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4110" y="1299210"/>
            <a:ext cx="5589270" cy="5170170"/>
          </a:xfrm>
          <a:custGeom>
            <a:avLst/>
            <a:gdLst/>
            <a:ahLst/>
            <a:cxnLst/>
            <a:rect l="l" t="t" r="r" b="b"/>
            <a:pathLst>
              <a:path w="5589270" h="5170170">
                <a:moveTo>
                  <a:pt x="76208" y="0"/>
                </a:moveTo>
                <a:lnTo>
                  <a:pt x="5513062" y="0"/>
                </a:lnTo>
                <a:cubicBezTo>
                  <a:pt x="5555150" y="0"/>
                  <a:pt x="5589270" y="34120"/>
                  <a:pt x="5589270" y="76208"/>
                </a:cubicBezTo>
                <a:lnTo>
                  <a:pt x="5589270" y="5093962"/>
                </a:lnTo>
                <a:cubicBezTo>
                  <a:pt x="5589270" y="5136050"/>
                  <a:pt x="5555150" y="5170170"/>
                  <a:pt x="5513062" y="5170170"/>
                </a:cubicBezTo>
                <a:lnTo>
                  <a:pt x="76208" y="5170170"/>
                </a:lnTo>
                <a:cubicBezTo>
                  <a:pt x="34120" y="5170170"/>
                  <a:pt x="0" y="5136050"/>
                  <a:pt x="0" y="509396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46520" y="1531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41770" y="16268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941820" y="1569720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Outcomes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0330" y="2068830"/>
            <a:ext cx="5122545" cy="1150620"/>
          </a:xfrm>
          <a:custGeom>
            <a:avLst/>
            <a:gdLst/>
            <a:ahLst/>
            <a:cxnLst/>
            <a:rect l="l" t="t" r="r" b="b"/>
            <a:pathLst>
              <a:path w="5122545" h="1150620">
                <a:moveTo>
                  <a:pt x="76206" y="0"/>
                </a:moveTo>
                <a:lnTo>
                  <a:pt x="5046339" y="0"/>
                </a:lnTo>
                <a:cubicBezTo>
                  <a:pt x="5088427" y="0"/>
                  <a:pt x="5122545" y="34118"/>
                  <a:pt x="5122545" y="76206"/>
                </a:cubicBezTo>
                <a:lnTo>
                  <a:pt x="5122545" y="1074414"/>
                </a:lnTo>
                <a:cubicBezTo>
                  <a:pt x="5122545" y="1116502"/>
                  <a:pt x="5088427" y="1150620"/>
                  <a:pt x="5046339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619637" y="227266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35153" y="222504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6540" y="2567940"/>
            <a:ext cx="4886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infrastructure defined in Terraform with version control, enabling reproducible deployments across environments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0330" y="3379470"/>
            <a:ext cx="5122545" cy="1150620"/>
          </a:xfrm>
          <a:custGeom>
            <a:avLst/>
            <a:gdLst/>
            <a:ahLst/>
            <a:cxnLst/>
            <a:rect l="l" t="t" r="r" b="b"/>
            <a:pathLst>
              <a:path w="5122545" h="1150620">
                <a:moveTo>
                  <a:pt x="76206" y="0"/>
                </a:moveTo>
                <a:lnTo>
                  <a:pt x="5046339" y="0"/>
                </a:lnTo>
                <a:cubicBezTo>
                  <a:pt x="5088427" y="0"/>
                  <a:pt x="5122545" y="34118"/>
                  <a:pt x="5122545" y="76206"/>
                </a:cubicBezTo>
                <a:lnTo>
                  <a:pt x="5122545" y="1074414"/>
                </a:lnTo>
                <a:cubicBezTo>
                  <a:pt x="5122545" y="1116502"/>
                  <a:pt x="5088427" y="1150620"/>
                  <a:pt x="5046339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30353" y="35833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35153" y="3535681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Least-Privilege IAM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06540" y="3878581"/>
            <a:ext cx="4886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 of least privilege enforced with granular permissions for each AWS service interaction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0330" y="4690110"/>
            <a:ext cx="5122545" cy="1150620"/>
          </a:xfrm>
          <a:custGeom>
            <a:avLst/>
            <a:gdLst/>
            <a:ahLst/>
            <a:cxnLst/>
            <a:rect l="l" t="t" r="r" b="b"/>
            <a:pathLst>
              <a:path w="5122545" h="1150620">
                <a:moveTo>
                  <a:pt x="76206" y="0"/>
                </a:moveTo>
                <a:lnTo>
                  <a:pt x="5046339" y="0"/>
                </a:lnTo>
                <a:cubicBezTo>
                  <a:pt x="5088427" y="0"/>
                  <a:pt x="5122545" y="34118"/>
                  <a:pt x="5122545" y="76206"/>
                </a:cubicBezTo>
                <a:lnTo>
                  <a:pt x="5122545" y="1074414"/>
                </a:lnTo>
                <a:cubicBezTo>
                  <a:pt x="5122545" y="1116502"/>
                  <a:pt x="5088427" y="1150620"/>
                  <a:pt x="5046339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630353" y="48939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35153" y="484632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Production-Grade Observability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6540" y="5189220"/>
            <a:ext cx="4886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logging, CloudWatch monitoring, and automated alerting for production readiness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A298CE-2290-7DA9-C57A-C9A6F935D8E2}"/>
              </a:ext>
            </a:extLst>
          </p:cNvPr>
          <p:cNvSpPr txBox="1"/>
          <p:nvPr/>
        </p:nvSpPr>
        <p:spPr>
          <a:xfrm>
            <a:off x="11858275" y="6521481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D145CC3-6835-CD20-8772-DEABEC77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High-Level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serverless architecture with fully managed AWS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11418570" cy="3065145"/>
          </a:xfrm>
          <a:custGeom>
            <a:avLst/>
            <a:gdLst/>
            <a:ahLst/>
            <a:cxnLst/>
            <a:rect l="l" t="t" r="r" b="b"/>
            <a:pathLst>
              <a:path w="11418570" h="3065145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2988945"/>
                </a:lnTo>
                <a:cubicBezTo>
                  <a:pt x="11418570" y="3031029"/>
                  <a:pt x="11384454" y="3065145"/>
                  <a:pt x="11342370" y="3065145"/>
                </a:cubicBezTo>
                <a:lnTo>
                  <a:pt x="76200" y="3065145"/>
                </a:lnTo>
                <a:cubicBezTo>
                  <a:pt x="34116" y="3065145"/>
                  <a:pt x="0" y="3031029"/>
                  <a:pt x="0" y="298894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1495" y="1760220"/>
            <a:ext cx="1112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Flow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2930" y="2183130"/>
            <a:ext cx="2284095" cy="1226820"/>
          </a:xfrm>
          <a:custGeom>
            <a:avLst/>
            <a:gdLst/>
            <a:ahLst/>
            <a:cxnLst/>
            <a:rect l="l" t="t" r="r" b="b"/>
            <a:pathLst>
              <a:path w="2284095" h="1226820">
                <a:moveTo>
                  <a:pt x="76198" y="0"/>
                </a:moveTo>
                <a:lnTo>
                  <a:pt x="2207897" y="0"/>
                </a:lnTo>
                <a:cubicBezTo>
                  <a:pt x="2249980" y="0"/>
                  <a:pt x="2284095" y="34115"/>
                  <a:pt x="2284095" y="76198"/>
                </a:cubicBezTo>
                <a:lnTo>
                  <a:pt x="2284095" y="1150622"/>
                </a:lnTo>
                <a:cubicBezTo>
                  <a:pt x="2284095" y="1192705"/>
                  <a:pt x="2249980" y="1226820"/>
                  <a:pt x="2207897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98640" y="23012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43896" y="243459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" y="2834641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702" y="3101341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Client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57406" y="26060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89779" y="2834641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3643" y="2183130"/>
            <a:ext cx="2284095" cy="1226820"/>
          </a:xfrm>
          <a:custGeom>
            <a:avLst/>
            <a:gdLst/>
            <a:ahLst/>
            <a:cxnLst/>
            <a:rect l="l" t="t" r="r" b="b"/>
            <a:pathLst>
              <a:path w="2284095" h="1226820">
                <a:moveTo>
                  <a:pt x="76198" y="0"/>
                </a:moveTo>
                <a:lnTo>
                  <a:pt x="2207897" y="0"/>
                </a:lnTo>
                <a:cubicBezTo>
                  <a:pt x="2249980" y="0"/>
                  <a:pt x="2284095" y="34115"/>
                  <a:pt x="2284095" y="76198"/>
                </a:cubicBezTo>
                <a:lnTo>
                  <a:pt x="2284095" y="1150622"/>
                </a:lnTo>
                <a:cubicBezTo>
                  <a:pt x="2284095" y="1192705"/>
                  <a:pt x="2249980" y="1226820"/>
                  <a:pt x="2207897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49353" y="23012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58891" y="243459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13654" y="2834641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18416" y="3101341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API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91820" y="26060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40492" y="2834641"/>
            <a:ext cx="552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1759" y="2183130"/>
            <a:ext cx="2284095" cy="1226820"/>
          </a:xfrm>
          <a:custGeom>
            <a:avLst/>
            <a:gdLst/>
            <a:ahLst/>
            <a:cxnLst/>
            <a:rect l="l" t="t" r="r" b="b"/>
            <a:pathLst>
              <a:path w="2284095" h="1226820">
                <a:moveTo>
                  <a:pt x="76198" y="0"/>
                </a:moveTo>
                <a:lnTo>
                  <a:pt x="2207897" y="0"/>
                </a:lnTo>
                <a:cubicBezTo>
                  <a:pt x="2249980" y="0"/>
                  <a:pt x="2284095" y="34115"/>
                  <a:pt x="2284095" y="76198"/>
                </a:cubicBezTo>
                <a:lnTo>
                  <a:pt x="2284095" y="1150622"/>
                </a:lnTo>
                <a:cubicBezTo>
                  <a:pt x="2284095" y="1192705"/>
                  <a:pt x="2249980" y="1226820"/>
                  <a:pt x="2207897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67468" y="23012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00818" y="24345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1769" y="2834641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6531" y="3101341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Endpoint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35164" y="26060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858608" y="2834641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0331" y="2183130"/>
            <a:ext cx="2284095" cy="1226820"/>
          </a:xfrm>
          <a:custGeom>
            <a:avLst/>
            <a:gdLst/>
            <a:ahLst/>
            <a:cxnLst/>
            <a:rect l="l" t="t" r="r" b="b"/>
            <a:pathLst>
              <a:path w="2284095" h="1226820">
                <a:moveTo>
                  <a:pt x="76198" y="0"/>
                </a:moveTo>
                <a:lnTo>
                  <a:pt x="2207897" y="0"/>
                </a:lnTo>
                <a:cubicBezTo>
                  <a:pt x="2249980" y="0"/>
                  <a:pt x="2284095" y="34115"/>
                  <a:pt x="2284095" y="76198"/>
                </a:cubicBezTo>
                <a:lnTo>
                  <a:pt x="2284095" y="1150622"/>
                </a:lnTo>
                <a:cubicBezTo>
                  <a:pt x="2284095" y="1192705"/>
                  <a:pt x="2249980" y="1226820"/>
                  <a:pt x="2207897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236041" y="23012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369391" y="24345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400342" y="2834641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05104" y="3101341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Logic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4789290"/>
            <a:ext cx="2731770" cy="1341120"/>
          </a:xfrm>
          <a:custGeom>
            <a:avLst/>
            <a:gdLst/>
            <a:ahLst/>
            <a:cxnLst/>
            <a:rect l="l" t="t" r="r" b="b"/>
            <a:pathLst>
              <a:path w="2731770" h="1341120">
                <a:moveTo>
                  <a:pt x="76202" y="0"/>
                </a:moveTo>
                <a:lnTo>
                  <a:pt x="2655568" y="0"/>
                </a:lnTo>
                <a:cubicBezTo>
                  <a:pt x="2697653" y="0"/>
                  <a:pt x="2731770" y="34117"/>
                  <a:pt x="2731770" y="76202"/>
                </a:cubicBezTo>
                <a:lnTo>
                  <a:pt x="2731770" y="1264918"/>
                </a:lnTo>
                <a:cubicBezTo>
                  <a:pt x="2731770" y="1307003"/>
                  <a:pt x="2697653" y="1341120"/>
                  <a:pt x="26555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41020" y="494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8892" y="5050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36320" y="50026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1020" y="54408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notes &amp; state persistence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1020" y="574560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1020" y="5745600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PutItem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52406" y="5745600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152406" y="5745600"/>
            <a:ext cx="609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GetItem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777008" y="5745600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190499"/>
                </a:lnTo>
                <a:cubicBezTo>
                  <a:pt x="457200" y="211542"/>
                  <a:pt x="440142" y="228600"/>
                  <a:pt x="4190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777008" y="5745600"/>
            <a:ext cx="5143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80410" y="4789290"/>
            <a:ext cx="2731770" cy="1341120"/>
          </a:xfrm>
          <a:custGeom>
            <a:avLst/>
            <a:gdLst/>
            <a:ahLst/>
            <a:cxnLst/>
            <a:rect l="l" t="t" r="r" b="b"/>
            <a:pathLst>
              <a:path w="2731770" h="1341120">
                <a:moveTo>
                  <a:pt x="76202" y="0"/>
                </a:moveTo>
                <a:lnTo>
                  <a:pt x="2655568" y="0"/>
                </a:lnTo>
                <a:cubicBezTo>
                  <a:pt x="2697653" y="0"/>
                  <a:pt x="2731770" y="34117"/>
                  <a:pt x="2731770" y="76202"/>
                </a:cubicBezTo>
                <a:lnTo>
                  <a:pt x="2731770" y="1264918"/>
                </a:lnTo>
                <a:cubicBezTo>
                  <a:pt x="2731770" y="1307003"/>
                  <a:pt x="2697653" y="1341120"/>
                  <a:pt x="26555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436620" y="494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533061" y="50502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931920" y="50026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436620" y="54408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storage &amp; retrieval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36620" y="5745600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436620" y="5745600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PutObject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153733" y="5745600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38101" y="0"/>
                </a:moveTo>
                <a:lnTo>
                  <a:pt x="619124" y="0"/>
                </a:lnTo>
                <a:cubicBezTo>
                  <a:pt x="640167" y="0"/>
                  <a:pt x="657225" y="17058"/>
                  <a:pt x="657225" y="38101"/>
                </a:cubicBezTo>
                <a:lnTo>
                  <a:pt x="657225" y="190499"/>
                </a:lnTo>
                <a:cubicBezTo>
                  <a:pt x="657225" y="211542"/>
                  <a:pt x="640167" y="228600"/>
                  <a:pt x="619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153733" y="5745600"/>
            <a:ext cx="714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GetObject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84063" y="5745600"/>
            <a:ext cx="323850" cy="228600"/>
          </a:xfrm>
          <a:custGeom>
            <a:avLst/>
            <a:gdLst/>
            <a:ahLst/>
            <a:cxnLst/>
            <a:rect l="l" t="t" r="r" b="b"/>
            <a:pathLst>
              <a:path w="323850" h="228600">
                <a:moveTo>
                  <a:pt x="38101" y="0"/>
                </a:moveTo>
                <a:lnTo>
                  <a:pt x="285749" y="0"/>
                </a:lnTo>
                <a:cubicBezTo>
                  <a:pt x="306792" y="0"/>
                  <a:pt x="323850" y="17058"/>
                  <a:pt x="323850" y="38101"/>
                </a:cubicBezTo>
                <a:lnTo>
                  <a:pt x="323850" y="190499"/>
                </a:lnTo>
                <a:cubicBezTo>
                  <a:pt x="323850" y="211542"/>
                  <a:pt x="306792" y="228600"/>
                  <a:pt x="285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84063" y="5745600"/>
            <a:ext cx="381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6010" y="4789290"/>
            <a:ext cx="2731770" cy="1341120"/>
          </a:xfrm>
          <a:custGeom>
            <a:avLst/>
            <a:gdLst/>
            <a:ahLst/>
            <a:cxnLst/>
            <a:rect l="l" t="t" r="r" b="b"/>
            <a:pathLst>
              <a:path w="2731770" h="1341120">
                <a:moveTo>
                  <a:pt x="76202" y="0"/>
                </a:moveTo>
                <a:lnTo>
                  <a:pt x="2655568" y="0"/>
                </a:lnTo>
                <a:cubicBezTo>
                  <a:pt x="2697653" y="0"/>
                  <a:pt x="2731770" y="34117"/>
                  <a:pt x="2731770" y="76202"/>
                </a:cubicBezTo>
                <a:lnTo>
                  <a:pt x="2731770" y="1264918"/>
                </a:lnTo>
                <a:cubicBezTo>
                  <a:pt x="2731770" y="1307003"/>
                  <a:pt x="2697653" y="1341120"/>
                  <a:pt x="26555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332220" y="494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439376" y="5050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827520" y="50026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32220" y="54408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Logs, metrics &amp; alarms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32220" y="5745600"/>
            <a:ext cx="714375" cy="228600"/>
          </a:xfrm>
          <a:custGeom>
            <a:avLst/>
            <a:gdLst/>
            <a:ahLst/>
            <a:cxnLst/>
            <a:rect l="l" t="t" r="r" b="b"/>
            <a:pathLst>
              <a:path w="714375" h="2286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190499"/>
                </a:lnTo>
                <a:cubicBezTo>
                  <a:pt x="714375" y="211542"/>
                  <a:pt x="697317" y="228600"/>
                  <a:pt x="676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32220" y="5745600"/>
            <a:ext cx="771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Groups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126605" y="5745600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190499"/>
                </a:lnTo>
                <a:cubicBezTo>
                  <a:pt x="514350" y="211542"/>
                  <a:pt x="497292" y="228600"/>
                  <a:pt x="4762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126605" y="5745600"/>
            <a:ext cx="5715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720727" y="574560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720727" y="574560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Alarms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71610" y="4789290"/>
            <a:ext cx="2731770" cy="1341120"/>
          </a:xfrm>
          <a:custGeom>
            <a:avLst/>
            <a:gdLst/>
            <a:ahLst/>
            <a:cxnLst/>
            <a:rect l="l" t="t" r="r" b="b"/>
            <a:pathLst>
              <a:path w="2731770" h="1341120">
                <a:moveTo>
                  <a:pt x="76202" y="0"/>
                </a:moveTo>
                <a:lnTo>
                  <a:pt x="2655568" y="0"/>
                </a:lnTo>
                <a:cubicBezTo>
                  <a:pt x="2697653" y="0"/>
                  <a:pt x="2731770" y="34117"/>
                  <a:pt x="2731770" y="76202"/>
                </a:cubicBezTo>
                <a:lnTo>
                  <a:pt x="2731770" y="1264918"/>
                </a:lnTo>
                <a:cubicBezTo>
                  <a:pt x="2731770" y="1307003"/>
                  <a:pt x="2697653" y="1341120"/>
                  <a:pt x="2655568" y="1341120"/>
                </a:cubicBezTo>
                <a:lnTo>
                  <a:pt x="76202" y="1341120"/>
                </a:lnTo>
                <a:cubicBezTo>
                  <a:pt x="34117" y="1341120"/>
                  <a:pt x="0" y="1307003"/>
                  <a:pt x="0" y="12649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9227820" y="494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9334976" y="5050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723120" y="50026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27820" y="54408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 integrations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27820" y="5745600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190499"/>
                </a:lnTo>
                <a:cubicBezTo>
                  <a:pt x="590550" y="211542"/>
                  <a:pt x="573492" y="228600"/>
                  <a:pt x="5524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9227820" y="5745600"/>
            <a:ext cx="6477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893975" y="5745600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9893975" y="5745600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406539" y="574560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0406539" y="5745600"/>
            <a:ext cx="476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Trivia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088963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279463" y="62865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&amp; Routing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640824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831324" y="62865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&amp; Data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928009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EAED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118509" y="62865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E7561C-CA67-0D04-47A7-51991F0395CC}"/>
              </a:ext>
            </a:extLst>
          </p:cNvPr>
          <p:cNvSpPr txBox="1"/>
          <p:nvPr/>
        </p:nvSpPr>
        <p:spPr>
          <a:xfrm>
            <a:off x="11866750" y="6517124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E26D6C5-73BE-A39B-001E-1069B7A59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650909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Journey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091" y="1047273"/>
            <a:ext cx="11572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approach from local development to production deployment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8364" y="1431273"/>
            <a:ext cx="34909" cy="5428364"/>
          </a:xfrm>
          <a:custGeom>
            <a:avLst/>
            <a:gdLst/>
            <a:ahLst/>
            <a:cxnLst/>
            <a:rect l="l" t="t" r="r" b="b"/>
            <a:pathLst>
              <a:path w="34909" h="5428364">
                <a:moveTo>
                  <a:pt x="0" y="0"/>
                </a:moveTo>
                <a:lnTo>
                  <a:pt x="34909" y="0"/>
                </a:lnTo>
                <a:lnTo>
                  <a:pt x="34909" y="5428364"/>
                </a:lnTo>
                <a:lnTo>
                  <a:pt x="0" y="542836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0">
                <a:srgbClr val="FFFFFF"/>
              </a:gs>
              <a:gs pos="50000">
                <a:srgbClr val="00A3E0"/>
              </a:gs>
              <a:gs pos="100000">
                <a:srgbClr val="FF9900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20582" y="1434764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63709" y="1577891"/>
            <a:ext cx="1553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Setup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97309" y="1577891"/>
            <a:ext cx="802909" cy="244364"/>
          </a:xfrm>
          <a:custGeom>
            <a:avLst/>
            <a:gdLst/>
            <a:ahLst/>
            <a:cxnLst/>
            <a:rect l="l" t="t" r="r" b="b"/>
            <a:pathLst>
              <a:path w="802909" h="244364">
                <a:moveTo>
                  <a:pt x="122182" y="0"/>
                </a:moveTo>
                <a:lnTo>
                  <a:pt x="680727" y="0"/>
                </a:lnTo>
                <a:cubicBezTo>
                  <a:pt x="748161" y="0"/>
                  <a:pt x="802909" y="54748"/>
                  <a:pt x="802909" y="122182"/>
                </a:cubicBezTo>
                <a:lnTo>
                  <a:pt x="802909" y="122182"/>
                </a:lnTo>
                <a:cubicBezTo>
                  <a:pt x="802909" y="189616"/>
                  <a:pt x="748161" y="244364"/>
                  <a:pt x="680727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897309" y="1577891"/>
            <a:ext cx="864000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3709" y="1892073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service understanding, LocalStack configuration, Terraform installation, and initial project structure setup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20582" y="2356364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63709" y="2499492"/>
            <a:ext cx="2722909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Infrastructure &amp; Bot 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72727" y="2499492"/>
            <a:ext cx="925091" cy="244364"/>
          </a:xfrm>
          <a:custGeom>
            <a:avLst/>
            <a:gdLst/>
            <a:ahLst/>
            <a:cxnLst/>
            <a:rect l="l" t="t" r="r" b="b"/>
            <a:pathLst>
              <a:path w="925091" h="244364">
                <a:moveTo>
                  <a:pt x="122182" y="0"/>
                </a:moveTo>
                <a:lnTo>
                  <a:pt x="802909" y="0"/>
                </a:lnTo>
                <a:cubicBezTo>
                  <a:pt x="870343" y="0"/>
                  <a:pt x="925091" y="54748"/>
                  <a:pt x="925091" y="122182"/>
                </a:cubicBezTo>
                <a:lnTo>
                  <a:pt x="925091" y="122182"/>
                </a:lnTo>
                <a:cubicBezTo>
                  <a:pt x="925091" y="189616"/>
                  <a:pt x="870343" y="244364"/>
                  <a:pt x="802909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772727" y="2499492"/>
            <a:ext cx="986182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3709" y="2813674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function implementation, API Gateway webhook configuration, DynamoDB integration, S3 file handling, and core bot commands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0582" y="3277963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63709" y="3421091"/>
            <a:ext cx="1623273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AWS Migration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91455" y="3421091"/>
            <a:ext cx="706909" cy="244364"/>
          </a:xfrm>
          <a:custGeom>
            <a:avLst/>
            <a:gdLst/>
            <a:ahLst/>
            <a:cxnLst/>
            <a:rect l="l" t="t" r="r" b="b"/>
            <a:pathLst>
              <a:path w="706909" h="244364">
                <a:moveTo>
                  <a:pt x="122182" y="0"/>
                </a:moveTo>
                <a:lnTo>
                  <a:pt x="584727" y="0"/>
                </a:lnTo>
                <a:cubicBezTo>
                  <a:pt x="652161" y="0"/>
                  <a:pt x="706909" y="54748"/>
                  <a:pt x="706909" y="122182"/>
                </a:cubicBezTo>
                <a:lnTo>
                  <a:pt x="706909" y="122182"/>
                </a:lnTo>
                <a:cubicBezTo>
                  <a:pt x="706909" y="189616"/>
                  <a:pt x="652161" y="244364"/>
                  <a:pt x="584727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991455" y="3421091"/>
            <a:ext cx="768000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3709" y="3735273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LocalStack endpoints, configured real AWS provider, implemented LabRole IAM role, deployed live API Gateway webhook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20582" y="4199564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263709" y="4342692"/>
            <a:ext cx="2914909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 Refactor &amp; IAM Hardening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15818" y="4342692"/>
            <a:ext cx="881455" cy="244364"/>
          </a:xfrm>
          <a:custGeom>
            <a:avLst/>
            <a:gdLst/>
            <a:ahLst/>
            <a:cxnLst/>
            <a:rect l="l" t="t" r="r" b="b"/>
            <a:pathLst>
              <a:path w="881455" h="244364">
                <a:moveTo>
                  <a:pt x="122182" y="0"/>
                </a:moveTo>
                <a:lnTo>
                  <a:pt x="759273" y="0"/>
                </a:lnTo>
                <a:cubicBezTo>
                  <a:pt x="826707" y="0"/>
                  <a:pt x="881455" y="54748"/>
                  <a:pt x="881455" y="122182"/>
                </a:cubicBezTo>
                <a:lnTo>
                  <a:pt x="881455" y="122182"/>
                </a:lnTo>
                <a:cubicBezTo>
                  <a:pt x="881455" y="189616"/>
                  <a:pt x="826707" y="244364"/>
                  <a:pt x="759273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815818" y="4342692"/>
            <a:ext cx="942545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63709" y="4656874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Terraform structure, least-privilege IAM implementation, standardized naming and tagging, remote state configuration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20582" y="5121165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263709" y="5264290"/>
            <a:ext cx="1762909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&amp; Monitoring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85600" y="5264290"/>
            <a:ext cx="916364" cy="244364"/>
          </a:xfrm>
          <a:custGeom>
            <a:avLst/>
            <a:gdLst/>
            <a:ahLst/>
            <a:cxnLst/>
            <a:rect l="l" t="t" r="r" b="b"/>
            <a:pathLst>
              <a:path w="916364" h="244364">
                <a:moveTo>
                  <a:pt x="122182" y="0"/>
                </a:moveTo>
                <a:lnTo>
                  <a:pt x="794182" y="0"/>
                </a:lnTo>
                <a:cubicBezTo>
                  <a:pt x="861616" y="0"/>
                  <a:pt x="916364" y="54748"/>
                  <a:pt x="916364" y="122182"/>
                </a:cubicBezTo>
                <a:lnTo>
                  <a:pt x="916364" y="122182"/>
                </a:lnTo>
                <a:cubicBezTo>
                  <a:pt x="916364" y="189616"/>
                  <a:pt x="861616" y="244364"/>
                  <a:pt x="794182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785600" y="5264290"/>
            <a:ext cx="977455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3709" y="5578472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 implementation, CloudWatch log groups with retention policies, metric filters, and automated error alarms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0582" y="6042764"/>
            <a:ext cx="10724073" cy="809891"/>
          </a:xfrm>
          <a:custGeom>
            <a:avLst/>
            <a:gdLst/>
            <a:ahLst/>
            <a:cxnLst/>
            <a:rect l="l" t="t" r="r" b="b"/>
            <a:pathLst>
              <a:path w="10724073" h="809891">
                <a:moveTo>
                  <a:pt x="69821" y="0"/>
                </a:moveTo>
                <a:lnTo>
                  <a:pt x="10654252" y="0"/>
                </a:lnTo>
                <a:cubicBezTo>
                  <a:pt x="10692813" y="0"/>
                  <a:pt x="10724073" y="31260"/>
                  <a:pt x="10724073" y="69821"/>
                </a:cubicBezTo>
                <a:lnTo>
                  <a:pt x="10724073" y="740070"/>
                </a:lnTo>
                <a:cubicBezTo>
                  <a:pt x="10724073" y="778631"/>
                  <a:pt x="10692813" y="809891"/>
                  <a:pt x="10654252" y="809891"/>
                </a:cubicBezTo>
                <a:lnTo>
                  <a:pt x="69821" y="809891"/>
                </a:lnTo>
                <a:cubicBezTo>
                  <a:pt x="31260" y="809891"/>
                  <a:pt x="0" y="778631"/>
                  <a:pt x="0" y="740070"/>
                </a:cubicBezTo>
                <a:lnTo>
                  <a:pt x="0" y="69821"/>
                </a:lnTo>
                <a:cubicBezTo>
                  <a:pt x="0" y="31260"/>
                  <a:pt x="31260" y="0"/>
                  <a:pt x="6982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63709" y="6185891"/>
            <a:ext cx="198109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API Integrations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68037" y="6185891"/>
            <a:ext cx="933818" cy="244364"/>
          </a:xfrm>
          <a:custGeom>
            <a:avLst/>
            <a:gdLst/>
            <a:ahLst/>
            <a:cxnLst/>
            <a:rect l="l" t="t" r="r" b="b"/>
            <a:pathLst>
              <a:path w="933818" h="244364">
                <a:moveTo>
                  <a:pt x="122182" y="0"/>
                </a:moveTo>
                <a:lnTo>
                  <a:pt x="811636" y="0"/>
                </a:lnTo>
                <a:cubicBezTo>
                  <a:pt x="879070" y="0"/>
                  <a:pt x="933818" y="54748"/>
                  <a:pt x="933818" y="122182"/>
                </a:cubicBezTo>
                <a:lnTo>
                  <a:pt x="933818" y="122182"/>
                </a:lnTo>
                <a:cubicBezTo>
                  <a:pt x="933818" y="189616"/>
                  <a:pt x="879070" y="244364"/>
                  <a:pt x="811636" y="244364"/>
                </a:cubicBezTo>
                <a:lnTo>
                  <a:pt x="122182" y="244364"/>
                </a:lnTo>
                <a:cubicBezTo>
                  <a:pt x="54748" y="244364"/>
                  <a:pt x="0" y="189616"/>
                  <a:pt x="0" y="122182"/>
                </a:cubicBezTo>
                <a:lnTo>
                  <a:pt x="0" y="122182"/>
                </a:lnTo>
                <a:cubicBezTo>
                  <a:pt x="0" y="54748"/>
                  <a:pt x="54748" y="0"/>
                  <a:pt x="12218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768037" y="6185891"/>
            <a:ext cx="994909" cy="244364"/>
          </a:xfrm>
          <a:prstGeom prst="rect">
            <a:avLst/>
          </a:prstGeom>
          <a:noFill/>
          <a:ln/>
        </p:spPr>
        <p:txBody>
          <a:bodyPr wrap="square" lIns="104727" tIns="34909" rIns="104727" bIns="34909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3709" y="6500073"/>
            <a:ext cx="105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API (Open-Meteo), News API (GDELT), Trivia API (OpenTriviaDB), Card game API (Deck of Cards) with error handling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9091" y="1431273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7927" y="1588364"/>
            <a:ext cx="331636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9091" y="2352874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818" y="2509964"/>
            <a:ext cx="36654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3-6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9091" y="3274472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83636" y="3431563"/>
            <a:ext cx="17454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9091" y="4196073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74691" y="4353164"/>
            <a:ext cx="192000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9091" y="5117674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6109" y="5274765"/>
            <a:ext cx="192000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49091" y="6039273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279273" y="0"/>
                </a:moveTo>
                <a:lnTo>
                  <a:pt x="279273" y="0"/>
                </a:lnTo>
                <a:cubicBezTo>
                  <a:pt x="433408" y="0"/>
                  <a:pt x="558545" y="125138"/>
                  <a:pt x="558545" y="279273"/>
                </a:cubicBezTo>
                <a:lnTo>
                  <a:pt x="558545" y="279273"/>
                </a:lnTo>
                <a:cubicBezTo>
                  <a:pt x="558545" y="433408"/>
                  <a:pt x="433408" y="558545"/>
                  <a:pt x="279273" y="558545"/>
                </a:cubicBezTo>
                <a:lnTo>
                  <a:pt x="279273" y="558545"/>
                </a:lnTo>
                <a:cubicBezTo>
                  <a:pt x="125138" y="558545"/>
                  <a:pt x="0" y="433408"/>
                  <a:pt x="0" y="279273"/>
                </a:cubicBezTo>
                <a:lnTo>
                  <a:pt x="0" y="279273"/>
                </a:lnTo>
                <a:cubicBezTo>
                  <a:pt x="0" y="125138"/>
                  <a:pt x="125138" y="0"/>
                  <a:pt x="279273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37709" y="6196364"/>
            <a:ext cx="27054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D626BD-AB71-B829-3F01-25F09A081208}"/>
              </a:ext>
            </a:extLst>
          </p:cNvPr>
          <p:cNvSpPr txBox="1"/>
          <p:nvPr/>
        </p:nvSpPr>
        <p:spPr>
          <a:xfrm>
            <a:off x="11912727" y="6488668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3646694-1290-C652-1107-FAFB8DC7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hewonice.com/83a4cbed87ce5013ac6700b3888c35fe2069ad25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0333" r="10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FF990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21380" y="2020254"/>
            <a:ext cx="1550670" cy="502920"/>
          </a:xfrm>
          <a:custGeom>
            <a:avLst/>
            <a:gdLst/>
            <a:ahLst/>
            <a:cxnLst/>
            <a:rect l="l" t="t" r="r" b="b"/>
            <a:pathLst>
              <a:path w="1550670" h="502920">
                <a:moveTo>
                  <a:pt x="251460" y="0"/>
                </a:moveTo>
                <a:lnTo>
                  <a:pt x="1299210" y="0"/>
                </a:lnTo>
                <a:cubicBezTo>
                  <a:pt x="1437995" y="0"/>
                  <a:pt x="1550670" y="112675"/>
                  <a:pt x="1550670" y="251460"/>
                </a:cubicBezTo>
                <a:lnTo>
                  <a:pt x="1550670" y="251460"/>
                </a:lnTo>
                <a:cubicBezTo>
                  <a:pt x="1550670" y="390245"/>
                  <a:pt x="1437995" y="502920"/>
                  <a:pt x="12992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506164" y="2161222"/>
            <a:ext cx="117967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61442" y="2831785"/>
            <a:ext cx="626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&amp; IaC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79621" y="3746185"/>
            <a:ext cx="6829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Terraform automation, modular architecture, and state management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53326" y="459391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096226" y="457486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16128" y="4593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44741" y="457486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01483" y="459391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415808" y="457486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State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4B9B4-F785-D5CA-4764-224B221B8AF9}"/>
              </a:ext>
            </a:extLst>
          </p:cNvPr>
          <p:cNvSpPr txBox="1"/>
          <p:nvPr/>
        </p:nvSpPr>
        <p:spPr>
          <a:xfrm>
            <a:off x="11858275" y="6488668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B01AED-6441-9AAF-6EBC-C9985D943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AUTOMATION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 &amp; Infrastructure as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3541395"/>
          </a:xfrm>
          <a:custGeom>
            <a:avLst/>
            <a:gdLst/>
            <a:ahLst/>
            <a:cxnLst/>
            <a:rect l="l" t="t" r="r" b="b"/>
            <a:pathLst>
              <a:path w="5589270" h="3541395">
                <a:moveTo>
                  <a:pt x="76211" y="0"/>
                </a:moveTo>
                <a:lnTo>
                  <a:pt x="5513059" y="0"/>
                </a:lnTo>
                <a:cubicBezTo>
                  <a:pt x="5555149" y="0"/>
                  <a:pt x="5589270" y="34121"/>
                  <a:pt x="5589270" y="76211"/>
                </a:cubicBezTo>
                <a:lnTo>
                  <a:pt x="5589270" y="3465184"/>
                </a:lnTo>
                <a:cubicBezTo>
                  <a:pt x="5589270" y="3507274"/>
                  <a:pt x="5555149" y="3541395"/>
                  <a:pt x="5513059" y="3541395"/>
                </a:cubicBezTo>
                <a:lnTo>
                  <a:pt x="76211" y="3541395"/>
                </a:lnTo>
                <a:cubicBezTo>
                  <a:pt x="34121" y="3541395"/>
                  <a:pt x="0" y="3507274"/>
                  <a:pt x="0" y="3465184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72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569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8720" y="1531623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Terraform?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0650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3420" y="21412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36320" y="2065023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 Deployments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2293623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defined as code ensures identical environments across dev, staging, and production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" y="2903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93420" y="29794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36320" y="2903223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Independence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6320" y="3131823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codebase deploys to LocalStack or real AWS with provider configuration changes only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" y="37414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4370" y="38176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36320" y="3741423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Provisioning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320" y="3970023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command (terraform apply) creates or updates entire infrastructure stack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4960619"/>
            <a:ext cx="5589270" cy="1512570"/>
          </a:xfrm>
          <a:custGeom>
            <a:avLst/>
            <a:gdLst/>
            <a:ahLst/>
            <a:cxnLst/>
            <a:rect l="l" t="t" r="r" b="b"/>
            <a:pathLst>
              <a:path w="5589270" h="151257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1436367"/>
                </a:lnTo>
                <a:cubicBezTo>
                  <a:pt x="5589270" y="1478453"/>
                  <a:pt x="5555153" y="1512570"/>
                  <a:pt x="5513067" y="1512570"/>
                </a:cubicBezTo>
                <a:lnTo>
                  <a:pt x="76203" y="1512570"/>
                </a:lnTo>
                <a:cubicBezTo>
                  <a:pt x="34117" y="1512570"/>
                  <a:pt x="0" y="1478453"/>
                  <a:pt x="0" y="14363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6745" y="51930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1545" y="5154932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Best Practice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120" y="5535932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as Code brings version control, repeatability, and automation to cloud resource management, eliminating manual configuration errors and enabling collaborative development workflows.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110" y="1223010"/>
            <a:ext cx="5589270" cy="5246370"/>
          </a:xfrm>
          <a:custGeom>
            <a:avLst/>
            <a:gdLst/>
            <a:ahLst/>
            <a:cxnLst/>
            <a:rect l="l" t="t" r="r" b="b"/>
            <a:pathLst>
              <a:path w="5589270" h="5246370">
                <a:moveTo>
                  <a:pt x="76177" y="0"/>
                </a:moveTo>
                <a:lnTo>
                  <a:pt x="5513093" y="0"/>
                </a:lnTo>
                <a:cubicBezTo>
                  <a:pt x="5555164" y="0"/>
                  <a:pt x="5589270" y="34106"/>
                  <a:pt x="5589270" y="76177"/>
                </a:cubicBezTo>
                <a:lnTo>
                  <a:pt x="5589270" y="5170193"/>
                </a:lnTo>
                <a:cubicBezTo>
                  <a:pt x="5589270" y="5212264"/>
                  <a:pt x="5555164" y="5246370"/>
                  <a:pt x="5513093" y="5246370"/>
                </a:cubicBezTo>
                <a:lnTo>
                  <a:pt x="76177" y="5246370"/>
                </a:lnTo>
                <a:cubicBezTo>
                  <a:pt x="34106" y="5246370"/>
                  <a:pt x="0" y="5212264"/>
                  <a:pt x="0" y="5170193"/>
                </a:cubicBezTo>
                <a:lnTo>
                  <a:pt x="0" y="76177"/>
                </a:lnTo>
                <a:cubicBezTo>
                  <a:pt x="0" y="34134"/>
                  <a:pt x="34134" y="0"/>
                  <a:pt x="76177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465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75107" y="15697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018020" y="1531623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Managed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0330" y="2068833"/>
            <a:ext cx="2503170" cy="1036320"/>
          </a:xfrm>
          <a:custGeom>
            <a:avLst/>
            <a:gdLst/>
            <a:ahLst/>
            <a:cxnLst/>
            <a:rect l="l" t="t" r="r" b="b"/>
            <a:pathLst>
              <a:path w="2503170" h="1036320">
                <a:moveTo>
                  <a:pt x="76201" y="0"/>
                </a:moveTo>
                <a:lnTo>
                  <a:pt x="2426969" y="0"/>
                </a:lnTo>
                <a:cubicBezTo>
                  <a:pt x="2469054" y="0"/>
                  <a:pt x="2503170" y="34116"/>
                  <a:pt x="2503170" y="76201"/>
                </a:cubicBezTo>
                <a:lnTo>
                  <a:pt x="2503170" y="960119"/>
                </a:lnTo>
                <a:cubicBezTo>
                  <a:pt x="2503170" y="1002204"/>
                  <a:pt x="2469054" y="1036320"/>
                  <a:pt x="24269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30353" y="22631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58965" y="2225041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06540" y="2567941"/>
            <a:ext cx="2257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logic execution, event-driven compute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71610" y="2068833"/>
            <a:ext cx="2503170" cy="1036320"/>
          </a:xfrm>
          <a:custGeom>
            <a:avLst/>
            <a:gdLst/>
            <a:ahLst/>
            <a:cxnLst/>
            <a:rect l="l" t="t" r="r" b="b"/>
            <a:pathLst>
              <a:path w="2503170" h="1036320">
                <a:moveTo>
                  <a:pt x="76201" y="0"/>
                </a:moveTo>
                <a:lnTo>
                  <a:pt x="2426969" y="0"/>
                </a:lnTo>
                <a:cubicBezTo>
                  <a:pt x="2469054" y="0"/>
                  <a:pt x="2503170" y="34116"/>
                  <a:pt x="2503170" y="76201"/>
                </a:cubicBezTo>
                <a:lnTo>
                  <a:pt x="2503170" y="960119"/>
                </a:lnTo>
                <a:cubicBezTo>
                  <a:pt x="2503170" y="1002204"/>
                  <a:pt x="2469054" y="1036320"/>
                  <a:pt x="24269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251632" y="22631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580245" y="2225041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27820" y="256794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 endpoint, HTTP routing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0330" y="3227069"/>
            <a:ext cx="2503170" cy="1036320"/>
          </a:xfrm>
          <a:custGeom>
            <a:avLst/>
            <a:gdLst/>
            <a:ahLst/>
            <a:cxnLst/>
            <a:rect l="l" t="t" r="r" b="b"/>
            <a:pathLst>
              <a:path w="2503170" h="1036320">
                <a:moveTo>
                  <a:pt x="76201" y="0"/>
                </a:moveTo>
                <a:lnTo>
                  <a:pt x="2426969" y="0"/>
                </a:lnTo>
                <a:cubicBezTo>
                  <a:pt x="2469054" y="0"/>
                  <a:pt x="2503170" y="34116"/>
                  <a:pt x="2503170" y="76201"/>
                </a:cubicBezTo>
                <a:lnTo>
                  <a:pt x="2503170" y="960119"/>
                </a:lnTo>
                <a:cubicBezTo>
                  <a:pt x="2503170" y="1002204"/>
                  <a:pt x="2469054" y="1036320"/>
                  <a:pt x="24269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42259" y="342138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58965" y="3383282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06540" y="3726182"/>
            <a:ext cx="2257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 persistence, state management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71610" y="3227069"/>
            <a:ext cx="2503170" cy="1036320"/>
          </a:xfrm>
          <a:custGeom>
            <a:avLst/>
            <a:gdLst/>
            <a:ahLst/>
            <a:cxnLst/>
            <a:rect l="l" t="t" r="r" b="b"/>
            <a:pathLst>
              <a:path w="2503170" h="1036320">
                <a:moveTo>
                  <a:pt x="76201" y="0"/>
                </a:moveTo>
                <a:lnTo>
                  <a:pt x="2426969" y="0"/>
                </a:lnTo>
                <a:cubicBezTo>
                  <a:pt x="2469054" y="0"/>
                  <a:pt x="2503170" y="34116"/>
                  <a:pt x="2503170" y="76201"/>
                </a:cubicBezTo>
                <a:lnTo>
                  <a:pt x="2503170" y="960119"/>
                </a:lnTo>
                <a:cubicBezTo>
                  <a:pt x="2503170" y="1002204"/>
                  <a:pt x="2469054" y="1036320"/>
                  <a:pt x="24269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239726" y="34213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580245" y="3383282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27820" y="3726182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storage, media handling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50330" y="4385310"/>
            <a:ext cx="2503170" cy="845820"/>
          </a:xfrm>
          <a:custGeom>
            <a:avLst/>
            <a:gdLst/>
            <a:ahLst/>
            <a:cxnLst/>
            <a:rect l="l" t="t" r="r" b="b"/>
            <a:pathLst>
              <a:path w="2503170" h="8458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69620"/>
                </a:lnTo>
                <a:cubicBezTo>
                  <a:pt x="2503170" y="811704"/>
                  <a:pt x="2469054" y="845820"/>
                  <a:pt x="24269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630353" y="45796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958965" y="4541523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06540" y="4884423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Roles, policies, least-privilege access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1610" y="4385310"/>
            <a:ext cx="2503170" cy="845820"/>
          </a:xfrm>
          <a:custGeom>
            <a:avLst/>
            <a:gdLst/>
            <a:ahLst/>
            <a:cxnLst/>
            <a:rect l="l" t="t" r="r" b="b"/>
            <a:pathLst>
              <a:path w="2503170" h="845820">
                <a:moveTo>
                  <a:pt x="76200" y="0"/>
                </a:moveTo>
                <a:lnTo>
                  <a:pt x="2426970" y="0"/>
                </a:lnTo>
                <a:cubicBezTo>
                  <a:pt x="2469054" y="0"/>
                  <a:pt x="2503170" y="34116"/>
                  <a:pt x="2503170" y="76200"/>
                </a:cubicBezTo>
                <a:lnTo>
                  <a:pt x="2503170" y="769620"/>
                </a:lnTo>
                <a:cubicBezTo>
                  <a:pt x="2503170" y="811704"/>
                  <a:pt x="2469054" y="845820"/>
                  <a:pt x="24269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251632" y="45796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580245" y="4541523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27820" y="4884423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Logging, metrics, alarms</a:t>
            </a:r>
            <a:endParaRPr lang="en-US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3D6ECD-41BE-99C5-CBD4-31AA970184F0}"/>
              </a:ext>
            </a:extLst>
          </p:cNvPr>
          <p:cNvSpPr txBox="1"/>
          <p:nvPr/>
        </p:nvSpPr>
        <p:spPr>
          <a:xfrm>
            <a:off x="11933775" y="6517124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DFB03A5-6CD6-47C5-41EF-A107DC2A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ORGANIZATION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Terraform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Refactoring from monolithic to modular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5589270" cy="4131945"/>
          </a:xfrm>
          <a:custGeom>
            <a:avLst/>
            <a:gdLst/>
            <a:ahLst/>
            <a:cxnLst/>
            <a:rect l="l" t="t" r="r" b="b"/>
            <a:pathLst>
              <a:path w="5589270" h="4131945">
                <a:moveTo>
                  <a:pt x="76193" y="0"/>
                </a:moveTo>
                <a:lnTo>
                  <a:pt x="5513077" y="0"/>
                </a:lnTo>
                <a:cubicBezTo>
                  <a:pt x="5555157" y="0"/>
                  <a:pt x="5589270" y="34113"/>
                  <a:pt x="5589270" y="76193"/>
                </a:cubicBezTo>
                <a:lnTo>
                  <a:pt x="5589270" y="4055752"/>
                </a:lnTo>
                <a:cubicBezTo>
                  <a:pt x="5589270" y="4097832"/>
                  <a:pt x="5555157" y="4131945"/>
                  <a:pt x="5513077" y="4131945"/>
                </a:cubicBezTo>
                <a:lnTo>
                  <a:pt x="76193" y="4131945"/>
                </a:lnTo>
                <a:cubicBezTo>
                  <a:pt x="34113" y="4131945"/>
                  <a:pt x="0" y="4097832"/>
                  <a:pt x="0" y="40557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760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34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0620" y="1836423"/>
            <a:ext cx="79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373633"/>
            <a:ext cx="5198745" cy="731520"/>
          </a:xfrm>
          <a:custGeom>
            <a:avLst/>
            <a:gdLst/>
            <a:ahLst/>
            <a:cxnLst/>
            <a:rect l="l" t="t" r="r" b="b"/>
            <a:pathLst>
              <a:path w="5198745" h="731520">
                <a:moveTo>
                  <a:pt x="76202" y="0"/>
                </a:moveTo>
                <a:lnTo>
                  <a:pt x="5122543" y="0"/>
                </a:lnTo>
                <a:cubicBezTo>
                  <a:pt x="5164628" y="0"/>
                  <a:pt x="5198745" y="34117"/>
                  <a:pt x="5198745" y="76202"/>
                </a:cubicBezTo>
                <a:lnTo>
                  <a:pt x="5198745" y="655318"/>
                </a:lnTo>
                <a:cubicBezTo>
                  <a:pt x="5198745" y="697403"/>
                  <a:pt x="5164628" y="731520"/>
                  <a:pt x="51225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B2C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9140" y="252984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7740" y="249174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main.tf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1040" y="2796541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resources in one massive file, difficult to navigate and maintain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2930" y="3227069"/>
            <a:ext cx="5198745" cy="731520"/>
          </a:xfrm>
          <a:custGeom>
            <a:avLst/>
            <a:gdLst/>
            <a:ahLst/>
            <a:cxnLst/>
            <a:rect l="l" t="t" r="r" b="b"/>
            <a:pathLst>
              <a:path w="5198745" h="731520">
                <a:moveTo>
                  <a:pt x="76202" y="0"/>
                </a:moveTo>
                <a:lnTo>
                  <a:pt x="5122543" y="0"/>
                </a:lnTo>
                <a:cubicBezTo>
                  <a:pt x="5164628" y="0"/>
                  <a:pt x="5198745" y="34117"/>
                  <a:pt x="5198745" y="76202"/>
                </a:cubicBezTo>
                <a:lnTo>
                  <a:pt x="5198745" y="655318"/>
                </a:lnTo>
                <a:cubicBezTo>
                  <a:pt x="5198745" y="697403"/>
                  <a:pt x="5164628" y="731520"/>
                  <a:pt x="51225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B2C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9140" y="33832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7740" y="3345182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Hardcoded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040" y="3649982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variables or reusability, environment-specific values embedded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" y="4080510"/>
            <a:ext cx="5198745" cy="731520"/>
          </a:xfrm>
          <a:custGeom>
            <a:avLst/>
            <a:gdLst/>
            <a:ahLst/>
            <a:cxnLst/>
            <a:rect l="l" t="t" r="r" b="b"/>
            <a:pathLst>
              <a:path w="5198745" h="731520">
                <a:moveTo>
                  <a:pt x="76202" y="0"/>
                </a:moveTo>
                <a:lnTo>
                  <a:pt x="5122543" y="0"/>
                </a:lnTo>
                <a:cubicBezTo>
                  <a:pt x="5164628" y="0"/>
                  <a:pt x="5198745" y="34117"/>
                  <a:pt x="5198745" y="76202"/>
                </a:cubicBezTo>
                <a:lnTo>
                  <a:pt x="5198745" y="655318"/>
                </a:lnTo>
                <a:cubicBezTo>
                  <a:pt x="5198745" y="697403"/>
                  <a:pt x="5164628" y="731520"/>
                  <a:pt x="51225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B2C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9140" y="42367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cubicBezTo>
                  <a:pt x="66586" y="9525"/>
                  <a:pt x="74414" y="16371"/>
                  <a:pt x="75932" y="25390"/>
                </a:cubicBezTo>
                <a:cubicBezTo>
                  <a:pt x="76795" y="30569"/>
                  <a:pt x="81707" y="34082"/>
                  <a:pt x="86916" y="33218"/>
                </a:cubicBezTo>
                <a:cubicBezTo>
                  <a:pt x="92125" y="32355"/>
                  <a:pt x="95607" y="27444"/>
                  <a:pt x="94744" y="22235"/>
                </a:cubicBezTo>
                <a:cubicBezTo>
                  <a:pt x="91708" y="4197"/>
                  <a:pt x="76051" y="-9525"/>
                  <a:pt x="57150" y="-9525"/>
                </a:cubicBezTo>
                <a:cubicBezTo>
                  <a:pt x="36106" y="-9525"/>
                  <a:pt x="19050" y="7531"/>
                  <a:pt x="19050" y="28575"/>
                </a:cubicBezTo>
                <a:lnTo>
                  <a:pt x="19050" y="47625"/>
                </a:lnTo>
                <a:cubicBezTo>
                  <a:pt x="8543" y="47625"/>
                  <a:pt x="0" y="56168"/>
                  <a:pt x="0" y="6667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66675"/>
                </a:lnTo>
                <a:cubicBezTo>
                  <a:pt x="114300" y="56168"/>
                  <a:pt x="105757" y="47625"/>
                  <a:pt x="95250" y="47625"/>
                </a:cubicBezTo>
                <a:lnTo>
                  <a:pt x="38100" y="47625"/>
                </a:lnTo>
                <a:lnTo>
                  <a:pt x="38100" y="28575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7740" y="4198623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 IAM Permissions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040" y="4503423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Wildcard permissions, excessive access rights, security risk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1565910"/>
            <a:ext cx="5589270" cy="4131945"/>
          </a:xfrm>
          <a:custGeom>
            <a:avLst/>
            <a:gdLst/>
            <a:ahLst/>
            <a:cxnLst/>
            <a:rect l="l" t="t" r="r" b="b"/>
            <a:pathLst>
              <a:path w="5589270" h="4131945">
                <a:moveTo>
                  <a:pt x="76193" y="0"/>
                </a:moveTo>
                <a:lnTo>
                  <a:pt x="5513077" y="0"/>
                </a:lnTo>
                <a:cubicBezTo>
                  <a:pt x="5555157" y="0"/>
                  <a:pt x="5589270" y="34113"/>
                  <a:pt x="5589270" y="76193"/>
                </a:cubicBezTo>
                <a:lnTo>
                  <a:pt x="5589270" y="4055752"/>
                </a:lnTo>
                <a:cubicBezTo>
                  <a:pt x="5589270" y="4097832"/>
                  <a:pt x="5555157" y="4131945"/>
                  <a:pt x="5513077" y="4131945"/>
                </a:cubicBezTo>
                <a:lnTo>
                  <a:pt x="76193" y="4131945"/>
                </a:lnTo>
                <a:cubicBezTo>
                  <a:pt x="34113" y="4131945"/>
                  <a:pt x="0" y="4097832"/>
                  <a:pt x="0" y="40557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8420" y="1760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5227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79920" y="1836423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2230" y="2373633"/>
            <a:ext cx="5198745" cy="1417320"/>
          </a:xfrm>
          <a:custGeom>
            <a:avLst/>
            <a:gdLst/>
            <a:ahLst/>
            <a:cxnLst/>
            <a:rect l="l" t="t" r="r" b="b"/>
            <a:pathLst>
              <a:path w="5198745" h="1417320">
                <a:moveTo>
                  <a:pt x="76195" y="0"/>
                </a:moveTo>
                <a:lnTo>
                  <a:pt x="5122550" y="0"/>
                </a:lnTo>
                <a:cubicBezTo>
                  <a:pt x="5164631" y="0"/>
                  <a:pt x="5198745" y="34114"/>
                  <a:pt x="5198745" y="76195"/>
                </a:cubicBezTo>
                <a:lnTo>
                  <a:pt x="5198745" y="1341125"/>
                </a:lnTo>
                <a:cubicBezTo>
                  <a:pt x="5198745" y="1383206"/>
                  <a:pt x="5164631" y="1417320"/>
                  <a:pt x="5122550" y="1417320"/>
                </a:cubicBezTo>
                <a:lnTo>
                  <a:pt x="76195" y="1417320"/>
                </a:lnTo>
                <a:cubicBezTo>
                  <a:pt x="34114" y="1417320"/>
                  <a:pt x="0" y="1383206"/>
                  <a:pt x="0" y="1341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49390" y="25298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97040" y="2491741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modules/ Directory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0340" y="27965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0340" y="27965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29700" y="27965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29700" y="27965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api_gateway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30340" y="31013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30340" y="31013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9700" y="31013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029700" y="31013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30340" y="34061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30340" y="34061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29700" y="3406141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38101" y="0"/>
                </a:moveTo>
                <a:lnTo>
                  <a:pt x="2419349" y="0"/>
                </a:lnTo>
                <a:cubicBezTo>
                  <a:pt x="2440392" y="0"/>
                  <a:pt x="2457450" y="17058"/>
                  <a:pt x="2457450" y="38101"/>
                </a:cubicBezTo>
                <a:lnTo>
                  <a:pt x="2457450" y="228599"/>
                </a:lnTo>
                <a:cubicBezTo>
                  <a:pt x="2457450" y="249642"/>
                  <a:pt x="2440392" y="266700"/>
                  <a:pt x="2419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029700" y="3406141"/>
            <a:ext cx="2524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2230" y="3912869"/>
            <a:ext cx="5198745" cy="731520"/>
          </a:xfrm>
          <a:custGeom>
            <a:avLst/>
            <a:gdLst/>
            <a:ahLst/>
            <a:cxnLst/>
            <a:rect l="l" t="t" r="r" b="b"/>
            <a:pathLst>
              <a:path w="5198745" h="731520">
                <a:moveTo>
                  <a:pt x="76202" y="0"/>
                </a:moveTo>
                <a:lnTo>
                  <a:pt x="5122543" y="0"/>
                </a:lnTo>
                <a:cubicBezTo>
                  <a:pt x="5164628" y="0"/>
                  <a:pt x="5198745" y="34117"/>
                  <a:pt x="5198745" y="76202"/>
                </a:cubicBezTo>
                <a:lnTo>
                  <a:pt x="5198745" y="655318"/>
                </a:lnTo>
                <a:cubicBezTo>
                  <a:pt x="5198745" y="697403"/>
                  <a:pt x="5164628" y="731520"/>
                  <a:pt x="51225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549390" y="40690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4256" y="19050"/>
                  <a:pt x="0" y="23306"/>
                  <a:pt x="0" y="28575"/>
                </a:cubicBezTo>
                <a:cubicBezTo>
                  <a:pt x="0" y="33844"/>
                  <a:pt x="4256" y="38100"/>
                  <a:pt x="9525" y="38100"/>
                </a:cubicBezTo>
                <a:lnTo>
                  <a:pt x="35332" y="38100"/>
                </a:lnTo>
                <a:cubicBezTo>
                  <a:pt x="38993" y="46524"/>
                  <a:pt x="47387" y="52388"/>
                  <a:pt x="57150" y="52388"/>
                </a:cubicBezTo>
                <a:cubicBezTo>
                  <a:pt x="66913" y="52388"/>
                  <a:pt x="75307" y="46524"/>
                  <a:pt x="78968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78968" y="19050"/>
                </a:lnTo>
                <a:cubicBezTo>
                  <a:pt x="75307" y="10626"/>
                  <a:pt x="66913" y="4763"/>
                  <a:pt x="57150" y="4763"/>
                </a:cubicBezTo>
                <a:cubicBezTo>
                  <a:pt x="47387" y="4763"/>
                  <a:pt x="38993" y="10626"/>
                  <a:pt x="35332" y="19050"/>
                </a:cubicBezTo>
                <a:lnTo>
                  <a:pt x="9525" y="19050"/>
                </a:lnTo>
                <a:close/>
                <a:moveTo>
                  <a:pt x="9525" y="66675"/>
                </a:move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82957" y="85725"/>
                </a:lnTo>
                <a:cubicBezTo>
                  <a:pt x="86618" y="94149"/>
                  <a:pt x="95012" y="100013"/>
                  <a:pt x="104775" y="100013"/>
                </a:cubicBezTo>
                <a:cubicBezTo>
                  <a:pt x="114538" y="100013"/>
                  <a:pt x="122932" y="94149"/>
                  <a:pt x="126593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126593" y="66675"/>
                </a:lnTo>
                <a:cubicBezTo>
                  <a:pt x="122932" y="58251"/>
                  <a:pt x="114538" y="52388"/>
                  <a:pt x="104775" y="52388"/>
                </a:cubicBezTo>
                <a:cubicBezTo>
                  <a:pt x="95012" y="52388"/>
                  <a:pt x="86618" y="58251"/>
                  <a:pt x="82957" y="66675"/>
                </a:cubicBezTo>
                <a:lnTo>
                  <a:pt x="9525" y="66675"/>
                </a:lnTo>
                <a:close/>
                <a:moveTo>
                  <a:pt x="9525" y="114300"/>
                </a:moveTo>
                <a:cubicBezTo>
                  <a:pt x="4256" y="114300"/>
                  <a:pt x="0" y="118556"/>
                  <a:pt x="0" y="123825"/>
                </a:cubicBezTo>
                <a:cubicBezTo>
                  <a:pt x="0" y="129094"/>
                  <a:pt x="4256" y="133350"/>
                  <a:pt x="9525" y="133350"/>
                </a:cubicBezTo>
                <a:lnTo>
                  <a:pt x="25807" y="133350"/>
                </a:lnTo>
                <a:cubicBezTo>
                  <a:pt x="29468" y="141774"/>
                  <a:pt x="37862" y="147638"/>
                  <a:pt x="47625" y="147638"/>
                </a:cubicBezTo>
                <a:cubicBezTo>
                  <a:pt x="57388" y="147638"/>
                  <a:pt x="65782" y="141774"/>
                  <a:pt x="69443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69443" y="114300"/>
                </a:lnTo>
                <a:cubicBezTo>
                  <a:pt x="65782" y="105876"/>
                  <a:pt x="57388" y="100013"/>
                  <a:pt x="47625" y="100013"/>
                </a:cubicBezTo>
                <a:cubicBezTo>
                  <a:pt x="37862" y="100013"/>
                  <a:pt x="29468" y="105876"/>
                  <a:pt x="25807" y="114300"/>
                </a:cubicBezTo>
                <a:lnTo>
                  <a:pt x="9525" y="114300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797040" y="4030982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&amp; Locals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0340" y="4335782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inputs, environment-specific values, reusable components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2230" y="4766310"/>
            <a:ext cx="5198745" cy="731520"/>
          </a:xfrm>
          <a:custGeom>
            <a:avLst/>
            <a:gdLst/>
            <a:ahLst/>
            <a:cxnLst/>
            <a:rect l="l" t="t" r="r" b="b"/>
            <a:pathLst>
              <a:path w="5198745" h="731520">
                <a:moveTo>
                  <a:pt x="76202" y="0"/>
                </a:moveTo>
                <a:lnTo>
                  <a:pt x="5122543" y="0"/>
                </a:lnTo>
                <a:cubicBezTo>
                  <a:pt x="5164628" y="0"/>
                  <a:pt x="5198745" y="34117"/>
                  <a:pt x="5198745" y="76202"/>
                </a:cubicBezTo>
                <a:lnTo>
                  <a:pt x="5198745" y="655318"/>
                </a:lnTo>
                <a:cubicBezTo>
                  <a:pt x="5198745" y="697403"/>
                  <a:pt x="5164628" y="731520"/>
                  <a:pt x="51225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549390" y="4922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0316" y="81260"/>
                </a:moveTo>
                <a:cubicBezTo>
                  <a:pt x="153114" y="78462"/>
                  <a:pt x="153114" y="73938"/>
                  <a:pt x="150316" y="71170"/>
                </a:cubicBezTo>
                <a:lnTo>
                  <a:pt x="107454" y="28277"/>
                </a:lnTo>
                <a:cubicBezTo>
                  <a:pt x="105400" y="26224"/>
                  <a:pt x="102334" y="25628"/>
                  <a:pt x="99655" y="26730"/>
                </a:cubicBezTo>
                <a:cubicBezTo>
                  <a:pt x="96976" y="27831"/>
                  <a:pt x="95250" y="30450"/>
                  <a:pt x="95250" y="33338"/>
                </a:cubicBezTo>
                <a:lnTo>
                  <a:pt x="95250" y="57150"/>
                </a:lnTo>
                <a:lnTo>
                  <a:pt x="61912" y="57150"/>
                </a:lnTo>
                <a:cubicBezTo>
                  <a:pt x="54025" y="57150"/>
                  <a:pt x="47625" y="63550"/>
                  <a:pt x="47625" y="71438"/>
                </a:cubicBezTo>
                <a:lnTo>
                  <a:pt x="47625" y="80962"/>
                </a:lnTo>
                <a:cubicBezTo>
                  <a:pt x="47625" y="88850"/>
                  <a:pt x="54025" y="95250"/>
                  <a:pt x="61912" y="95250"/>
                </a:cubicBezTo>
                <a:lnTo>
                  <a:pt x="95250" y="95250"/>
                </a:lnTo>
                <a:lnTo>
                  <a:pt x="95250" y="119062"/>
                </a:lnTo>
                <a:cubicBezTo>
                  <a:pt x="95250" y="121950"/>
                  <a:pt x="96976" y="124569"/>
                  <a:pt x="99655" y="125670"/>
                </a:cubicBezTo>
                <a:cubicBezTo>
                  <a:pt x="102334" y="126772"/>
                  <a:pt x="105400" y="126176"/>
                  <a:pt x="107454" y="124123"/>
                </a:cubicBezTo>
                <a:lnTo>
                  <a:pt x="150316" y="81260"/>
                </a:lnTo>
                <a:close/>
                <a:moveTo>
                  <a:pt x="47625" y="28575"/>
                </a:moveTo>
                <a:cubicBezTo>
                  <a:pt x="52894" y="28575"/>
                  <a:pt x="57150" y="24319"/>
                  <a:pt x="57150" y="19050"/>
                </a:cubicBezTo>
                <a:cubicBezTo>
                  <a:pt x="57150" y="13781"/>
                  <a:pt x="52894" y="9525"/>
                  <a:pt x="47625" y="9525"/>
                </a:cubicBezTo>
                <a:lnTo>
                  <a:pt x="28575" y="9525"/>
                </a:lnTo>
                <a:cubicBezTo>
                  <a:pt x="12799" y="9525"/>
                  <a:pt x="0" y="22324"/>
                  <a:pt x="0" y="38100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47625" y="142875"/>
                </a:lnTo>
                <a:cubicBezTo>
                  <a:pt x="52894" y="142875"/>
                  <a:pt x="57150" y="138619"/>
                  <a:pt x="57150" y="133350"/>
                </a:cubicBezTo>
                <a:cubicBezTo>
                  <a:pt x="57150" y="128081"/>
                  <a:pt x="52894" y="123825"/>
                  <a:pt x="47625" y="123825"/>
                </a:cubicBezTo>
                <a:lnTo>
                  <a:pt x="28575" y="123825"/>
                </a:lnTo>
                <a:cubicBezTo>
                  <a:pt x="23306" y="123825"/>
                  <a:pt x="19050" y="119569"/>
                  <a:pt x="19050" y="114300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lnTo>
                  <a:pt x="47625" y="28575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97040" y="488442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0340" y="5189223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Exposed resource attributes, inter-module dependencies, useful endpoints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810" y="5855969"/>
            <a:ext cx="11418570" cy="807720"/>
          </a:xfrm>
          <a:custGeom>
            <a:avLst/>
            <a:gdLst/>
            <a:ahLst/>
            <a:cxnLst/>
            <a:rect l="l" t="t" r="r" b="b"/>
            <a:pathLst>
              <a:path w="11418570" h="8077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731520"/>
                </a:lnTo>
                <a:cubicBezTo>
                  <a:pt x="11418570" y="773604"/>
                  <a:pt x="11384454" y="807720"/>
                  <a:pt x="113423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41020" y="60312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62464" y="61645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150620" y="6012182"/>
            <a:ext cx="1058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Modular Design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78004" y="63455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322070" y="6316982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structure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525792" y="63455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669858" y="6316982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components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75772" y="63455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419838" y="6316982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maintenance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63352" y="634555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007418" y="631698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blast radius</a:t>
            </a:r>
            <a:endParaRPr 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568C6D-BE5C-5B80-DFDF-53E13C127000}"/>
              </a:ext>
            </a:extLst>
          </p:cNvPr>
          <p:cNvSpPr txBox="1"/>
          <p:nvPr/>
        </p:nvSpPr>
        <p:spPr>
          <a:xfrm>
            <a:off x="11895520" y="6521169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0A8719F-3569-B7B9-BAD5-7767E8D1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State &amp; Environment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6760845" cy="3674745"/>
          </a:xfrm>
          <a:custGeom>
            <a:avLst/>
            <a:gdLst/>
            <a:ahLst/>
            <a:cxnLst/>
            <a:rect l="l" t="t" r="r" b="b"/>
            <a:pathLst>
              <a:path w="6760845" h="3674745">
                <a:moveTo>
                  <a:pt x="76214" y="0"/>
                </a:moveTo>
                <a:lnTo>
                  <a:pt x="6684631" y="0"/>
                </a:lnTo>
                <a:cubicBezTo>
                  <a:pt x="6726723" y="0"/>
                  <a:pt x="6760845" y="34122"/>
                  <a:pt x="6760845" y="76214"/>
                </a:cubicBezTo>
                <a:lnTo>
                  <a:pt x="6760845" y="3598531"/>
                </a:lnTo>
                <a:cubicBezTo>
                  <a:pt x="6760845" y="3640623"/>
                  <a:pt x="6726723" y="3674745"/>
                  <a:pt x="6684631" y="3674745"/>
                </a:cubicBezTo>
                <a:lnTo>
                  <a:pt x="76214" y="3674745"/>
                </a:lnTo>
                <a:cubicBezTo>
                  <a:pt x="34122" y="3674745"/>
                  <a:pt x="0" y="3640623"/>
                  <a:pt x="0" y="35985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72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5808" y="15697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8720" y="1531623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 State in S3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0650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12470" y="21412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36320" y="2065023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at 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2293623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file encrypted using AWS KMS for security compliance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" y="26746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3895" y="27508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36320" y="2674623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Versioning Enabled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6320" y="2903223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state versioning for recovery and audit trails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" y="3284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3420" y="33604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36320" y="3284223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Collaboration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320" y="3512823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state enables multiple team members to work safely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5093969"/>
            <a:ext cx="6760845" cy="1379220"/>
          </a:xfrm>
          <a:custGeom>
            <a:avLst/>
            <a:gdLst/>
            <a:ahLst/>
            <a:cxnLst/>
            <a:rect l="l" t="t" r="r" b="b"/>
            <a:pathLst>
              <a:path w="6760845" h="1379220">
                <a:moveTo>
                  <a:pt x="76202" y="0"/>
                </a:moveTo>
                <a:lnTo>
                  <a:pt x="6684643" y="0"/>
                </a:lnTo>
                <a:cubicBezTo>
                  <a:pt x="6726728" y="0"/>
                  <a:pt x="6760845" y="34117"/>
                  <a:pt x="6760845" y="76202"/>
                </a:cubicBezTo>
                <a:lnTo>
                  <a:pt x="6760845" y="1303018"/>
                </a:lnTo>
                <a:cubicBezTo>
                  <a:pt x="6760845" y="1345103"/>
                  <a:pt x="6726728" y="1379220"/>
                  <a:pt x="6684643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79120" y="52882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98183" y="53835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74420" y="5345432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Locking via DynamoDB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9120" y="5783582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 table provides distributed locking mechanism, preventing concurrent terraform operations that could corrupt state. Essential for team environments and CI/CD pipelines.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79970" y="1223010"/>
            <a:ext cx="4427220" cy="4322445"/>
          </a:xfrm>
          <a:custGeom>
            <a:avLst/>
            <a:gdLst/>
            <a:ahLst/>
            <a:cxnLst/>
            <a:rect l="l" t="t" r="r" b="b"/>
            <a:pathLst>
              <a:path w="4427220" h="4322445">
                <a:moveTo>
                  <a:pt x="76205" y="0"/>
                </a:moveTo>
                <a:lnTo>
                  <a:pt x="4351015" y="0"/>
                </a:lnTo>
                <a:cubicBezTo>
                  <a:pt x="4393102" y="0"/>
                  <a:pt x="4427220" y="34118"/>
                  <a:pt x="4427220" y="76205"/>
                </a:cubicBezTo>
                <a:lnTo>
                  <a:pt x="4427220" y="4246240"/>
                </a:lnTo>
                <a:cubicBezTo>
                  <a:pt x="4427220" y="4288327"/>
                  <a:pt x="4393102" y="4322445"/>
                  <a:pt x="4351015" y="4322445"/>
                </a:cubicBezTo>
                <a:lnTo>
                  <a:pt x="76205" y="4322445"/>
                </a:lnTo>
                <a:cubicBezTo>
                  <a:pt x="34118" y="4322445"/>
                  <a:pt x="0" y="4288327"/>
                  <a:pt x="0" y="424624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61238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26680" y="1569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83880" y="1531623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 Workflow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16190" y="2068833"/>
            <a:ext cx="3950970" cy="807720"/>
          </a:xfrm>
          <a:custGeom>
            <a:avLst/>
            <a:gdLst/>
            <a:ahLst/>
            <a:cxnLst/>
            <a:rect l="l" t="t" r="r" b="b"/>
            <a:pathLst>
              <a:path w="3950970" h="807720">
                <a:moveTo>
                  <a:pt x="76200" y="0"/>
                </a:moveTo>
                <a:lnTo>
                  <a:pt x="3874770" y="0"/>
                </a:lnTo>
                <a:cubicBezTo>
                  <a:pt x="3916854" y="0"/>
                  <a:pt x="3950970" y="34116"/>
                  <a:pt x="3950970" y="76200"/>
                </a:cubicBezTo>
                <a:lnTo>
                  <a:pt x="3950970" y="731520"/>
                </a:lnTo>
                <a:cubicBezTo>
                  <a:pt x="3950970" y="773604"/>
                  <a:pt x="3916854" y="807720"/>
                  <a:pt x="38747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772400" y="22250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739062" y="2225041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77200" y="2225041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Isolation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0" y="2529841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state files per environment (dev/staging/prod)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16190" y="2998469"/>
            <a:ext cx="3950970" cy="807720"/>
          </a:xfrm>
          <a:custGeom>
            <a:avLst/>
            <a:gdLst/>
            <a:ahLst/>
            <a:cxnLst/>
            <a:rect l="l" t="t" r="r" b="b"/>
            <a:pathLst>
              <a:path w="3950970" h="807720">
                <a:moveTo>
                  <a:pt x="76200" y="0"/>
                </a:moveTo>
                <a:lnTo>
                  <a:pt x="3874770" y="0"/>
                </a:lnTo>
                <a:cubicBezTo>
                  <a:pt x="3916854" y="0"/>
                  <a:pt x="3950970" y="34116"/>
                  <a:pt x="3950970" y="76200"/>
                </a:cubicBezTo>
                <a:lnTo>
                  <a:pt x="3950970" y="731520"/>
                </a:lnTo>
                <a:cubicBezTo>
                  <a:pt x="3950970" y="773604"/>
                  <a:pt x="3916854" y="807720"/>
                  <a:pt x="38747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772400" y="31546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739062" y="3154682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77200" y="3154682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Ownership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72400" y="3459482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state file ownership prevents conflicting updates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16190" y="3928110"/>
            <a:ext cx="3950970" cy="807720"/>
          </a:xfrm>
          <a:custGeom>
            <a:avLst/>
            <a:gdLst/>
            <a:ahLst/>
            <a:cxnLst/>
            <a:rect l="l" t="t" r="r" b="b"/>
            <a:pathLst>
              <a:path w="3950970" h="807720">
                <a:moveTo>
                  <a:pt x="76200" y="0"/>
                </a:moveTo>
                <a:lnTo>
                  <a:pt x="3874770" y="0"/>
                </a:lnTo>
                <a:cubicBezTo>
                  <a:pt x="3916854" y="0"/>
                  <a:pt x="3950970" y="34116"/>
                  <a:pt x="3950970" y="76200"/>
                </a:cubicBezTo>
                <a:lnTo>
                  <a:pt x="3950970" y="731520"/>
                </a:lnTo>
                <a:cubicBezTo>
                  <a:pt x="3950970" y="773604"/>
                  <a:pt x="3916854" y="807720"/>
                  <a:pt x="38747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772400" y="40843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39062" y="4084323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77200" y="408432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Mandatory Locking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2400" y="4389123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parallel operations from corrupting state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79970" y="5741669"/>
            <a:ext cx="4427220" cy="731520"/>
          </a:xfrm>
          <a:custGeom>
            <a:avLst/>
            <a:gdLst/>
            <a:ahLst/>
            <a:cxnLst/>
            <a:rect l="l" t="t" r="r" b="b"/>
            <a:pathLst>
              <a:path w="4427220" h="731520">
                <a:moveTo>
                  <a:pt x="76202" y="0"/>
                </a:moveTo>
                <a:lnTo>
                  <a:pt x="4351018" y="0"/>
                </a:lnTo>
                <a:cubicBezTo>
                  <a:pt x="4393103" y="0"/>
                  <a:pt x="4427220" y="34117"/>
                  <a:pt x="4427220" y="76202"/>
                </a:cubicBezTo>
                <a:lnTo>
                  <a:pt x="4427220" y="655318"/>
                </a:lnTo>
                <a:cubicBezTo>
                  <a:pt x="4427220" y="697403"/>
                  <a:pt x="4393103" y="731520"/>
                  <a:pt x="43510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583805" y="601218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888605" y="5897882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88605" y="6126482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state is the backbone of multi-team Terraform setups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71FA31-B747-DD41-6C4A-2B98159FDEC2}"/>
              </a:ext>
            </a:extLst>
          </p:cNvPr>
          <p:cNvSpPr txBox="1"/>
          <p:nvPr/>
        </p:nvSpPr>
        <p:spPr>
          <a:xfrm>
            <a:off x="11874642" y="6473189"/>
            <a:ext cx="33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24B7BFC-F4A6-19FB-E69D-E1A3C72A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77e1a94d8c28f688f1953c9e5adf8876d38005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821" b="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00A3E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03044" y="2020254"/>
            <a:ext cx="1588770" cy="502920"/>
          </a:xfrm>
          <a:custGeom>
            <a:avLst/>
            <a:gdLst/>
            <a:ahLst/>
            <a:cxnLst/>
            <a:rect l="l" t="t" r="r" b="b"/>
            <a:pathLst>
              <a:path w="1588770" h="502920">
                <a:moveTo>
                  <a:pt x="251460" y="0"/>
                </a:moveTo>
                <a:lnTo>
                  <a:pt x="1337310" y="0"/>
                </a:lnTo>
                <a:cubicBezTo>
                  <a:pt x="1476095" y="0"/>
                  <a:pt x="1588770" y="112675"/>
                  <a:pt x="1588770" y="251460"/>
                </a:cubicBezTo>
                <a:lnTo>
                  <a:pt x="1588770" y="251460"/>
                </a:lnTo>
                <a:cubicBezTo>
                  <a:pt x="1588770" y="390245"/>
                  <a:pt x="1476095" y="502920"/>
                  <a:pt x="13373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 w="10160">
            <a:solidFill>
              <a:srgbClr val="00A3E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7829" y="2161222"/>
            <a:ext cx="121622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1766" y="2831785"/>
            <a:ext cx="488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IAM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40430" y="3746185"/>
            <a:ext cx="5314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 access control and security hardening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62494" y="4593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091107" y="457486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19976" y="4593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48588" y="457486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IAM Roles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00161" y="459391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00198" y="457486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E9D4A-FB6F-1E66-78CE-C36B4CE7BC48}"/>
              </a:ext>
            </a:extLst>
          </p:cNvPr>
          <p:cNvSpPr txBox="1"/>
          <p:nvPr/>
        </p:nvSpPr>
        <p:spPr>
          <a:xfrm>
            <a:off x="11748329" y="6488668"/>
            <a:ext cx="44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D7F875-B2D8-9259-0BDA-542FEC71F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HARDENING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Least Privilege Implementation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3408" y="951270"/>
            <a:ext cx="5673725" cy="5895975"/>
          </a:xfrm>
          <a:custGeom>
            <a:avLst/>
            <a:gdLst/>
            <a:ahLst/>
            <a:cxnLst/>
            <a:rect l="l" t="t" r="r" b="b"/>
            <a:pathLst>
              <a:path w="5673725" h="5895975">
                <a:moveTo>
                  <a:pt x="63489" y="0"/>
                </a:moveTo>
                <a:lnTo>
                  <a:pt x="5610236" y="0"/>
                </a:lnTo>
                <a:cubicBezTo>
                  <a:pt x="5645300" y="0"/>
                  <a:pt x="5673725" y="28425"/>
                  <a:pt x="5673725" y="63489"/>
                </a:cubicBezTo>
                <a:lnTo>
                  <a:pt x="5673725" y="5832486"/>
                </a:lnTo>
                <a:cubicBezTo>
                  <a:pt x="5673725" y="5867550"/>
                  <a:pt x="5645300" y="5895975"/>
                  <a:pt x="5610236" y="5895975"/>
                </a:cubicBezTo>
                <a:lnTo>
                  <a:pt x="63489" y="5895975"/>
                </a:lnTo>
                <a:cubicBezTo>
                  <a:pt x="28425" y="5895975"/>
                  <a:pt x="0" y="5867550"/>
                  <a:pt x="0" y="5832486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2600" y="107632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7850" y="113276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8700" y="1130306"/>
            <a:ext cx="2301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Before: Broad Permissions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" y="1568390"/>
            <a:ext cx="5348288" cy="3975100"/>
          </a:xfrm>
          <a:custGeom>
            <a:avLst/>
            <a:gdLst/>
            <a:ahLst/>
            <a:cxnLst/>
            <a:rect l="l" t="t" r="r" b="b"/>
            <a:pathLst>
              <a:path w="5348288" h="3975100">
                <a:moveTo>
                  <a:pt x="63482" y="0"/>
                </a:moveTo>
                <a:lnTo>
                  <a:pt x="5284805" y="0"/>
                </a:lnTo>
                <a:cubicBezTo>
                  <a:pt x="5319865" y="0"/>
                  <a:pt x="5348288" y="28422"/>
                  <a:pt x="5348288" y="63482"/>
                </a:cubicBezTo>
                <a:lnTo>
                  <a:pt x="5348288" y="3911618"/>
                </a:lnTo>
                <a:cubicBezTo>
                  <a:pt x="5348287" y="3946678"/>
                  <a:pt x="5319865" y="3975100"/>
                  <a:pt x="5284805" y="3975100"/>
                </a:cubicBezTo>
                <a:lnTo>
                  <a:pt x="63482" y="3975100"/>
                </a:lnTo>
                <a:cubicBezTo>
                  <a:pt x="28422" y="3975100"/>
                  <a:pt x="0" y="3946678"/>
                  <a:pt x="0" y="391161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B2C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1965" y="1727722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ANTI-PATTERN: Overly permissive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965" y="2022805"/>
            <a:ext cx="514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</a:t>
            </a:r>
            <a:r>
              <a:rPr lang="en-US" sz="875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"aws_iam_policy""lambda_policy"</a:t>
            </a: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policy = jsonencode({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"2012-10-17"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Statement = [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"Allow"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"*"</a:t>
            </a:r>
            <a:r>
              <a:rPr lang="en-US" sz="875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# ALL ACTIONS!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"*"</a:t>
            </a:r>
            <a:r>
              <a:rPr lang="en-US" sz="875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# ALL RESOURCES!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475" y="568584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850" y="5662971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Wildcard actions (*)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475" y="594917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2943" y="5917424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Wildcard resources (*)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475" y="62031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07862" y="6160311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vulnerability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475" y="64291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2943" y="6406959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Violates least privilege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4425" y="884851"/>
            <a:ext cx="5673725" cy="5895975"/>
          </a:xfrm>
          <a:custGeom>
            <a:avLst/>
            <a:gdLst/>
            <a:ahLst/>
            <a:cxnLst/>
            <a:rect l="l" t="t" r="r" b="b"/>
            <a:pathLst>
              <a:path w="5673725" h="5895975">
                <a:moveTo>
                  <a:pt x="63489" y="0"/>
                </a:moveTo>
                <a:lnTo>
                  <a:pt x="5610236" y="0"/>
                </a:lnTo>
                <a:cubicBezTo>
                  <a:pt x="5645300" y="0"/>
                  <a:pt x="5673725" y="28425"/>
                  <a:pt x="5673725" y="63489"/>
                </a:cubicBezTo>
                <a:lnTo>
                  <a:pt x="5673725" y="5832486"/>
                </a:lnTo>
                <a:cubicBezTo>
                  <a:pt x="5673725" y="5867550"/>
                  <a:pt x="5645300" y="5895975"/>
                  <a:pt x="5610236" y="5895975"/>
                </a:cubicBezTo>
                <a:lnTo>
                  <a:pt x="63489" y="5895975"/>
                </a:lnTo>
                <a:cubicBezTo>
                  <a:pt x="28425" y="5895975"/>
                  <a:pt x="0" y="5867550"/>
                  <a:pt x="0" y="5832486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72225" y="1096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51600" y="11842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32600" y="1159526"/>
            <a:ext cx="1833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After: Least Privilege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9525" y="1568390"/>
            <a:ext cx="5348288" cy="3975100"/>
          </a:xfrm>
          <a:custGeom>
            <a:avLst/>
            <a:gdLst/>
            <a:ahLst/>
            <a:cxnLst/>
            <a:rect l="l" t="t" r="r" b="b"/>
            <a:pathLst>
              <a:path w="5348288" h="3975100">
                <a:moveTo>
                  <a:pt x="63482" y="0"/>
                </a:moveTo>
                <a:lnTo>
                  <a:pt x="5284805" y="0"/>
                </a:lnTo>
                <a:cubicBezTo>
                  <a:pt x="5319865" y="0"/>
                  <a:pt x="5348288" y="28422"/>
                  <a:pt x="5348288" y="63482"/>
                </a:cubicBezTo>
                <a:lnTo>
                  <a:pt x="5348288" y="3911618"/>
                </a:lnTo>
                <a:cubicBezTo>
                  <a:pt x="5348287" y="3946678"/>
                  <a:pt x="5319865" y="3975100"/>
                  <a:pt x="5284805" y="3975100"/>
                </a:cubicBezTo>
                <a:lnTo>
                  <a:pt x="63482" y="3975100"/>
                </a:lnTo>
                <a:cubicBezTo>
                  <a:pt x="28422" y="3975100"/>
                  <a:pt x="0" y="3946678"/>
                  <a:pt x="0" y="391161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79171" y="177110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BEST PRACTICE: Granular permissions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9225" y="2030481"/>
            <a:ext cx="5143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27A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</a:t>
            </a:r>
            <a:r>
              <a:rPr lang="en-US" sz="875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"aws_iam_policy""lambda_policy"</a:t>
            </a: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policy = jsonencode({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Statement = [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875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DynamoDB - Specific Table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 = [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"dynamodb:PutItem",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"dynamodb:GetItem",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"dynamodb:Query"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"arn:aws:dynamodb:::table/bot-data"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r>
              <a:rPr lang="en-US" sz="875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S3 - Specific Bucket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 = [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"s3:PutObject",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"s3:GetObject",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"s3:ListBucket"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= </a:t>
            </a: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"arn:aws:s3:::bot-files/*"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8100" y="578997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78600" y="5757965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actions only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2225" y="602382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78600" y="5984134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resources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2225" y="627782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62725" y="6246070"/>
            <a:ext cx="146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 of least privilege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2225" y="654114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62725" y="6509392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security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675" y="7331077"/>
            <a:ext cx="11547475" cy="704850"/>
          </a:xfrm>
          <a:custGeom>
            <a:avLst/>
            <a:gdLst/>
            <a:ahLst/>
            <a:cxnLst/>
            <a:rect l="l" t="t" r="r" b="b"/>
            <a:pathLst>
              <a:path w="11547475" h="70485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641350"/>
                </a:lnTo>
                <a:cubicBezTo>
                  <a:pt x="11547475" y="676420"/>
                  <a:pt x="11519045" y="704850"/>
                  <a:pt x="11483975" y="704850"/>
                </a:cubicBezTo>
                <a:lnTo>
                  <a:pt x="63500" y="704850"/>
                </a:lnTo>
                <a:cubicBezTo>
                  <a:pt x="28430" y="704850"/>
                  <a:pt x="0" y="676420"/>
                  <a:pt x="0" y="641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0850" y="749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61975" y="7604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58850" y="7461250"/>
            <a:ext cx="1085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Result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8850" y="7715250"/>
            <a:ext cx="1084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function has access only to required resources with minimal permissions. Principle of least privilege enforced for secure production deployment.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53F43C-4F6A-613A-39EE-E300C72C5C1A}"/>
              </a:ext>
            </a:extLst>
          </p:cNvPr>
          <p:cNvSpPr txBox="1"/>
          <p:nvPr/>
        </p:nvSpPr>
        <p:spPr>
          <a:xfrm>
            <a:off x="11852405" y="6488668"/>
            <a:ext cx="43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11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9F5CA-EE8C-CA78-969A-C011F52EB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ce52c92d49ca8a9a881efb2f417365cea4a4f282.jpeg"/>
          <p:cNvPicPr>
            <a:picLocks noChangeAspect="1"/>
          </p:cNvPicPr>
          <p:nvPr/>
        </p:nvPicPr>
        <p:blipFill>
          <a:blip r:embed="rId3">
            <a:alphaModFix amt="20000"/>
          </a:blip>
          <a:srcRect t="7400" b="74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FF990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00663" y="2020254"/>
            <a:ext cx="1588770" cy="502920"/>
          </a:xfrm>
          <a:custGeom>
            <a:avLst/>
            <a:gdLst/>
            <a:ahLst/>
            <a:cxnLst/>
            <a:rect l="l" t="t" r="r" b="b"/>
            <a:pathLst>
              <a:path w="1588770" h="502920">
                <a:moveTo>
                  <a:pt x="251460" y="0"/>
                </a:moveTo>
                <a:lnTo>
                  <a:pt x="1337310" y="0"/>
                </a:lnTo>
                <a:cubicBezTo>
                  <a:pt x="1476095" y="0"/>
                  <a:pt x="1588770" y="112675"/>
                  <a:pt x="1588770" y="251460"/>
                </a:cubicBezTo>
                <a:lnTo>
                  <a:pt x="1588770" y="251460"/>
                </a:lnTo>
                <a:cubicBezTo>
                  <a:pt x="1588770" y="390245"/>
                  <a:pt x="1476095" y="502920"/>
                  <a:pt x="13373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5448" y="2161226"/>
            <a:ext cx="122110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74350" y="2831781"/>
            <a:ext cx="5438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Functionality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92103" y="3746181"/>
            <a:ext cx="52101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commands, features, and external integrations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23179" y="459390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880366" y="4574856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Commands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12462" y="459390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26787" y="4574856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Persistence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45085" y="459390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659410" y="4574856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372A7-EAB2-54A5-567A-225172490456}"/>
              </a:ext>
            </a:extLst>
          </p:cNvPr>
          <p:cNvSpPr txBox="1"/>
          <p:nvPr/>
        </p:nvSpPr>
        <p:spPr>
          <a:xfrm>
            <a:off x="11748675" y="6488668"/>
            <a:ext cx="443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12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FD4595-5092-5DE0-2EBF-520E76FF6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Bot Commands &amp;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commands demonstrating serverless service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3674745" cy="3979545"/>
          </a:xfrm>
          <a:custGeom>
            <a:avLst/>
            <a:gdLst/>
            <a:ahLst/>
            <a:cxnLst/>
            <a:rect l="l" t="t" r="r" b="b"/>
            <a:pathLst>
              <a:path w="3674745" h="3979545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3903331"/>
                </a:lnTo>
                <a:cubicBezTo>
                  <a:pt x="3674745" y="3945423"/>
                  <a:pt x="3640623" y="3979545"/>
                  <a:pt x="3598531" y="3979545"/>
                </a:cubicBezTo>
                <a:lnTo>
                  <a:pt x="76214" y="3979545"/>
                </a:lnTo>
                <a:cubicBezTo>
                  <a:pt x="34122" y="3979545"/>
                  <a:pt x="0" y="3945423"/>
                  <a:pt x="0" y="39033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7602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4370" y="18554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4420" y="1817368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Commands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259328"/>
            <a:ext cx="3274695" cy="731520"/>
          </a:xfrm>
          <a:custGeom>
            <a:avLst/>
            <a:gdLst/>
            <a:ahLst/>
            <a:cxnLst/>
            <a:rect l="l" t="t" r="r" b="b"/>
            <a:pathLst>
              <a:path w="3274695" h="731520">
                <a:moveTo>
                  <a:pt x="76202" y="0"/>
                </a:moveTo>
                <a:lnTo>
                  <a:pt x="3198493" y="0"/>
                </a:lnTo>
                <a:cubicBezTo>
                  <a:pt x="3240578" y="0"/>
                  <a:pt x="3274695" y="34117"/>
                  <a:pt x="3274695" y="76202"/>
                </a:cubicBezTo>
                <a:lnTo>
                  <a:pt x="3274695" y="655318"/>
                </a:lnTo>
                <a:cubicBezTo>
                  <a:pt x="3274695" y="697403"/>
                  <a:pt x="3240578" y="731520"/>
                  <a:pt x="31984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1040" y="2377446"/>
            <a:ext cx="590550" cy="266700"/>
          </a:xfrm>
          <a:custGeom>
            <a:avLst/>
            <a:gdLst/>
            <a:ahLst/>
            <a:cxnLst/>
            <a:rect l="l" t="t" r="r" b="b"/>
            <a:pathLst>
              <a:path w="590550" h="2667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228599"/>
                </a:lnTo>
                <a:cubicBezTo>
                  <a:pt x="590550" y="249628"/>
                  <a:pt x="573478" y="266700"/>
                  <a:pt x="552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1040" y="2377446"/>
            <a:ext cx="6572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/hello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1040" y="2682246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Greeting message with bot introduction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2930" y="3112774"/>
            <a:ext cx="3274695" cy="731520"/>
          </a:xfrm>
          <a:custGeom>
            <a:avLst/>
            <a:gdLst/>
            <a:ahLst/>
            <a:cxnLst/>
            <a:rect l="l" t="t" r="r" b="b"/>
            <a:pathLst>
              <a:path w="3274695" h="731520">
                <a:moveTo>
                  <a:pt x="76202" y="0"/>
                </a:moveTo>
                <a:lnTo>
                  <a:pt x="3198493" y="0"/>
                </a:lnTo>
                <a:cubicBezTo>
                  <a:pt x="3240578" y="0"/>
                  <a:pt x="3274695" y="34117"/>
                  <a:pt x="3274695" y="76202"/>
                </a:cubicBezTo>
                <a:lnTo>
                  <a:pt x="3274695" y="655318"/>
                </a:lnTo>
                <a:cubicBezTo>
                  <a:pt x="3274695" y="697403"/>
                  <a:pt x="3240578" y="731520"/>
                  <a:pt x="31984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01040" y="3230882"/>
            <a:ext cx="514350" cy="266700"/>
          </a:xfrm>
          <a:custGeom>
            <a:avLst/>
            <a:gdLst/>
            <a:ahLst/>
            <a:cxnLst/>
            <a:rect l="l" t="t" r="r" b="b"/>
            <a:pathLst>
              <a:path w="514350" h="26670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228599"/>
                </a:lnTo>
                <a:cubicBezTo>
                  <a:pt x="514350" y="249628"/>
                  <a:pt x="497278" y="266700"/>
                  <a:pt x="4762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1040" y="3230882"/>
            <a:ext cx="5810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/help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040" y="3535682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all available commands and usage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" y="3966210"/>
            <a:ext cx="3274695" cy="731520"/>
          </a:xfrm>
          <a:custGeom>
            <a:avLst/>
            <a:gdLst/>
            <a:ahLst/>
            <a:cxnLst/>
            <a:rect l="l" t="t" r="r" b="b"/>
            <a:pathLst>
              <a:path w="3274695" h="731520">
                <a:moveTo>
                  <a:pt x="76202" y="0"/>
                </a:moveTo>
                <a:lnTo>
                  <a:pt x="3198493" y="0"/>
                </a:lnTo>
                <a:cubicBezTo>
                  <a:pt x="3240578" y="0"/>
                  <a:pt x="3274695" y="34117"/>
                  <a:pt x="3274695" y="76202"/>
                </a:cubicBezTo>
                <a:lnTo>
                  <a:pt x="3274695" y="655318"/>
                </a:lnTo>
                <a:cubicBezTo>
                  <a:pt x="3274695" y="697403"/>
                  <a:pt x="3240578" y="731520"/>
                  <a:pt x="319849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1040" y="4084318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38101" y="0"/>
                </a:moveTo>
                <a:lnTo>
                  <a:pt x="923924" y="0"/>
                </a:lnTo>
                <a:cubicBezTo>
                  <a:pt x="944967" y="0"/>
                  <a:pt x="962025" y="17058"/>
                  <a:pt x="962025" y="38101"/>
                </a:cubicBezTo>
                <a:lnTo>
                  <a:pt x="962025" y="228599"/>
                </a:lnTo>
                <a:cubicBezTo>
                  <a:pt x="962025" y="249642"/>
                  <a:pt x="944967" y="266700"/>
                  <a:pt x="9239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1040" y="4084318"/>
            <a:ext cx="10287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/echo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040" y="438911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Echo back user message (parameter handling)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5703574"/>
            <a:ext cx="3674745" cy="769620"/>
          </a:xfrm>
          <a:custGeom>
            <a:avLst/>
            <a:gdLst/>
            <a:ahLst/>
            <a:cxnLst/>
            <a:rect l="l" t="t" r="r" b="b"/>
            <a:pathLst>
              <a:path w="3674745" h="7696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693420"/>
                </a:lnTo>
                <a:cubicBezTo>
                  <a:pt x="3674745" y="735504"/>
                  <a:pt x="3640629" y="769620"/>
                  <a:pt x="35985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21970" y="59931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6529" y="5859782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commands processed through Lambda with sub-100ms response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8270" y="1565910"/>
            <a:ext cx="3674745" cy="3979545"/>
          </a:xfrm>
          <a:custGeom>
            <a:avLst/>
            <a:gdLst/>
            <a:ahLst/>
            <a:cxnLst/>
            <a:rect l="l" t="t" r="r" b="b"/>
            <a:pathLst>
              <a:path w="3674745" h="3979545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3903331"/>
                </a:lnTo>
                <a:cubicBezTo>
                  <a:pt x="3674745" y="3945423"/>
                  <a:pt x="3640623" y="3979545"/>
                  <a:pt x="3598531" y="3979545"/>
                </a:cubicBezTo>
                <a:lnTo>
                  <a:pt x="76214" y="3979545"/>
                </a:lnTo>
                <a:cubicBezTo>
                  <a:pt x="34122" y="3979545"/>
                  <a:pt x="0" y="3945423"/>
                  <a:pt x="0" y="39033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52580" y="17602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59737" y="18554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47881" y="1817368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DynamoDB Persistence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6390" y="2259328"/>
            <a:ext cx="3274695" cy="998220"/>
          </a:xfrm>
          <a:custGeom>
            <a:avLst/>
            <a:gdLst/>
            <a:ahLst/>
            <a:cxnLst/>
            <a:rect l="l" t="t" r="r" b="b"/>
            <a:pathLst>
              <a:path w="3274695" h="998220">
                <a:moveTo>
                  <a:pt x="76204" y="0"/>
                </a:moveTo>
                <a:lnTo>
                  <a:pt x="3198491" y="0"/>
                </a:lnTo>
                <a:cubicBezTo>
                  <a:pt x="3240577" y="0"/>
                  <a:pt x="3274695" y="34118"/>
                  <a:pt x="3274695" y="76204"/>
                </a:cubicBezTo>
                <a:lnTo>
                  <a:pt x="3274695" y="922016"/>
                </a:lnTo>
                <a:cubicBezTo>
                  <a:pt x="3274695" y="964102"/>
                  <a:pt x="3240577" y="998220"/>
                  <a:pt x="31984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4500" y="2377446"/>
            <a:ext cx="102870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38101" y="0"/>
                </a:moveTo>
                <a:lnTo>
                  <a:pt x="990599" y="0"/>
                </a:lnTo>
                <a:cubicBezTo>
                  <a:pt x="1011642" y="0"/>
                  <a:pt x="1028700" y="17058"/>
                  <a:pt x="1028700" y="38101"/>
                </a:cubicBezTo>
                <a:lnTo>
                  <a:pt x="1028700" y="228599"/>
                </a:lnTo>
                <a:cubicBezTo>
                  <a:pt x="1028700" y="249642"/>
                  <a:pt x="1011642" y="266700"/>
                  <a:pt x="990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4500" y="2377446"/>
            <a:ext cx="10953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/save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4500" y="2682246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user note to DynamoDB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4500" y="2948946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28" y="0"/>
                  <a:pt x="533400" y="17072"/>
                  <a:pt x="533400" y="38100"/>
                </a:cubicBezTo>
                <a:lnTo>
                  <a:pt x="533400" y="152400"/>
                </a:lnTo>
                <a:cubicBezTo>
                  <a:pt x="533400" y="173428"/>
                  <a:pt x="516328" y="190500"/>
                  <a:pt x="4953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4500" y="2948946"/>
            <a:ext cx="5905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PutItem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7786" y="2948946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38100" y="0"/>
                </a:moveTo>
                <a:lnTo>
                  <a:pt x="476250" y="0"/>
                </a:lnTo>
                <a:cubicBezTo>
                  <a:pt x="497278" y="0"/>
                  <a:pt x="514350" y="17072"/>
                  <a:pt x="514350" y="38100"/>
                </a:cubicBezTo>
                <a:lnTo>
                  <a:pt x="514350" y="152400"/>
                </a:lnTo>
                <a:cubicBezTo>
                  <a:pt x="514350" y="173428"/>
                  <a:pt x="497278" y="190500"/>
                  <a:pt x="4762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47786" y="2948946"/>
            <a:ext cx="5715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user_id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98331" y="2948946"/>
            <a:ext cx="676275" cy="190500"/>
          </a:xfrm>
          <a:custGeom>
            <a:avLst/>
            <a:gdLst/>
            <a:ahLst/>
            <a:cxnLst/>
            <a:rect l="l" t="t" r="r" b="b"/>
            <a:pathLst>
              <a:path w="676275" h="190500">
                <a:moveTo>
                  <a:pt x="38100" y="0"/>
                </a:moveTo>
                <a:lnTo>
                  <a:pt x="638175" y="0"/>
                </a:lnTo>
                <a:cubicBezTo>
                  <a:pt x="659203" y="0"/>
                  <a:pt x="676275" y="17072"/>
                  <a:pt x="676275" y="38100"/>
                </a:cubicBezTo>
                <a:lnTo>
                  <a:pt x="676275" y="152400"/>
                </a:lnTo>
                <a:cubicBezTo>
                  <a:pt x="676275" y="173428"/>
                  <a:pt x="659203" y="190500"/>
                  <a:pt x="6381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98331" y="2948946"/>
            <a:ext cx="7334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6390" y="3379353"/>
            <a:ext cx="3274695" cy="998220"/>
          </a:xfrm>
          <a:custGeom>
            <a:avLst/>
            <a:gdLst/>
            <a:ahLst/>
            <a:cxnLst/>
            <a:rect l="l" t="t" r="r" b="b"/>
            <a:pathLst>
              <a:path w="3274695" h="998220">
                <a:moveTo>
                  <a:pt x="76204" y="0"/>
                </a:moveTo>
                <a:lnTo>
                  <a:pt x="3198491" y="0"/>
                </a:lnTo>
                <a:cubicBezTo>
                  <a:pt x="3240577" y="0"/>
                  <a:pt x="3274695" y="34118"/>
                  <a:pt x="3274695" y="76204"/>
                </a:cubicBezTo>
                <a:lnTo>
                  <a:pt x="3274695" y="922016"/>
                </a:lnTo>
                <a:cubicBezTo>
                  <a:pt x="3274695" y="964102"/>
                  <a:pt x="3240577" y="998220"/>
                  <a:pt x="31984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574500" y="3497461"/>
            <a:ext cx="447675" cy="266700"/>
          </a:xfrm>
          <a:custGeom>
            <a:avLst/>
            <a:gdLst/>
            <a:ahLst/>
            <a:cxnLst/>
            <a:rect l="l" t="t" r="r" b="b"/>
            <a:pathLst>
              <a:path w="447675" h="266700">
                <a:moveTo>
                  <a:pt x="38101" y="0"/>
                </a:moveTo>
                <a:lnTo>
                  <a:pt x="409574" y="0"/>
                </a:lnTo>
                <a:cubicBezTo>
                  <a:pt x="430617" y="0"/>
                  <a:pt x="447675" y="17058"/>
                  <a:pt x="447675" y="38101"/>
                </a:cubicBezTo>
                <a:lnTo>
                  <a:pt x="447675" y="228599"/>
                </a:lnTo>
                <a:cubicBezTo>
                  <a:pt x="447675" y="249628"/>
                  <a:pt x="430603" y="266700"/>
                  <a:pt x="4095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4500" y="3497461"/>
            <a:ext cx="5143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/get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4500" y="3802261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saved notes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4500" y="4068961"/>
            <a:ext cx="552450" cy="190500"/>
          </a:xfrm>
          <a:custGeom>
            <a:avLst/>
            <a:gdLst/>
            <a:ahLst/>
            <a:cxnLst/>
            <a:rect l="l" t="t" r="r" b="b"/>
            <a:pathLst>
              <a:path w="552450" h="190500">
                <a:moveTo>
                  <a:pt x="38100" y="0"/>
                </a:moveTo>
                <a:lnTo>
                  <a:pt x="514350" y="0"/>
                </a:lnTo>
                <a:cubicBezTo>
                  <a:pt x="535378" y="0"/>
                  <a:pt x="552450" y="17072"/>
                  <a:pt x="552450" y="38100"/>
                </a:cubicBezTo>
                <a:lnTo>
                  <a:pt x="552450" y="152400"/>
                </a:lnTo>
                <a:cubicBezTo>
                  <a:pt x="552450" y="173428"/>
                  <a:pt x="535378" y="190500"/>
                  <a:pt x="5143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574500" y="4068961"/>
            <a:ext cx="6096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GetItem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61002" y="4068961"/>
            <a:ext cx="457200" cy="190500"/>
          </a:xfrm>
          <a:custGeom>
            <a:avLst/>
            <a:gdLst/>
            <a:ahLst/>
            <a:cxnLst/>
            <a:rect l="l" t="t" r="r" b="b"/>
            <a:pathLst>
              <a:path w="457200" h="1905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152400"/>
                </a:lnTo>
                <a:cubicBezTo>
                  <a:pt x="457200" y="173428"/>
                  <a:pt x="440128" y="190500"/>
                  <a:pt x="4191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61002" y="4068961"/>
            <a:ext cx="5143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59755" y="4068961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38100" y="0"/>
                </a:moveTo>
                <a:lnTo>
                  <a:pt x="476250" y="0"/>
                </a:lnTo>
                <a:cubicBezTo>
                  <a:pt x="497278" y="0"/>
                  <a:pt x="514350" y="17072"/>
                  <a:pt x="514350" y="38100"/>
                </a:cubicBezTo>
                <a:lnTo>
                  <a:pt x="514350" y="152400"/>
                </a:lnTo>
                <a:cubicBezTo>
                  <a:pt x="514350" y="173428"/>
                  <a:pt x="497278" y="190500"/>
                  <a:pt x="4762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59755" y="4068961"/>
            <a:ext cx="5715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user_id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8270" y="5703574"/>
            <a:ext cx="3674745" cy="769620"/>
          </a:xfrm>
          <a:custGeom>
            <a:avLst/>
            <a:gdLst/>
            <a:ahLst/>
            <a:cxnLst/>
            <a:rect l="l" t="t" r="r" b="b"/>
            <a:pathLst>
              <a:path w="3674745" h="7696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693420"/>
                </a:lnTo>
                <a:cubicBezTo>
                  <a:pt x="3674745" y="735504"/>
                  <a:pt x="3640629" y="769620"/>
                  <a:pt x="35985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419243" y="59931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684752" y="5859782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compute + database integration in serverless architecture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31731" y="1565910"/>
            <a:ext cx="3674745" cy="3979545"/>
          </a:xfrm>
          <a:custGeom>
            <a:avLst/>
            <a:gdLst/>
            <a:ahLst/>
            <a:cxnLst/>
            <a:rect l="l" t="t" r="r" b="b"/>
            <a:pathLst>
              <a:path w="3674745" h="3979545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3903331"/>
                </a:lnTo>
                <a:cubicBezTo>
                  <a:pt x="3674745" y="3945423"/>
                  <a:pt x="3640623" y="3979545"/>
                  <a:pt x="3598531" y="3979545"/>
                </a:cubicBezTo>
                <a:lnTo>
                  <a:pt x="76214" y="3979545"/>
                </a:lnTo>
                <a:cubicBezTo>
                  <a:pt x="34122" y="3979545"/>
                  <a:pt x="0" y="3945423"/>
                  <a:pt x="0" y="39033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326041" y="17602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409384" y="18554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821341" y="1817368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File Storage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29851" y="2259328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476536" y="241554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32534"/>
                </a:moveTo>
                <a:lnTo>
                  <a:pt x="76200" y="95250"/>
                </a:lnTo>
                <a:cubicBezTo>
                  <a:pt x="76200" y="100519"/>
                  <a:pt x="71944" y="104775"/>
                  <a:pt x="66675" y="104775"/>
                </a:cubicBezTo>
                <a:cubicBezTo>
                  <a:pt x="61406" y="104775"/>
                  <a:pt x="57150" y="100519"/>
                  <a:pt x="57150" y="95250"/>
                </a:cubicBezTo>
                <a:lnTo>
                  <a:pt x="57150" y="32534"/>
                </a:lnTo>
                <a:lnTo>
                  <a:pt x="44827" y="44857"/>
                </a:lnTo>
                <a:cubicBezTo>
                  <a:pt x="41106" y="48578"/>
                  <a:pt x="35064" y="48578"/>
                  <a:pt x="31343" y="44857"/>
                </a:cubicBezTo>
                <a:cubicBezTo>
                  <a:pt x="27622" y="41136"/>
                  <a:pt x="27622" y="35094"/>
                  <a:pt x="31343" y="31373"/>
                </a:cubicBezTo>
                <a:lnTo>
                  <a:pt x="59918" y="2798"/>
                </a:lnTo>
                <a:cubicBezTo>
                  <a:pt x="63639" y="-923"/>
                  <a:pt x="69681" y="-923"/>
                  <a:pt x="73402" y="2798"/>
                </a:cubicBezTo>
                <a:lnTo>
                  <a:pt x="101977" y="31373"/>
                </a:lnTo>
                <a:cubicBezTo>
                  <a:pt x="105698" y="35094"/>
                  <a:pt x="105698" y="41136"/>
                  <a:pt x="101977" y="44857"/>
                </a:cubicBezTo>
                <a:cubicBezTo>
                  <a:pt x="98256" y="48578"/>
                  <a:pt x="92214" y="48578"/>
                  <a:pt x="88493" y="44857"/>
                </a:cubicBezTo>
                <a:lnTo>
                  <a:pt x="76200" y="32534"/>
                </a:lnTo>
                <a:close/>
                <a:moveTo>
                  <a:pt x="66675" y="119062"/>
                </a:moveTo>
                <a:cubicBezTo>
                  <a:pt x="79831" y="119062"/>
                  <a:pt x="90488" y="108406"/>
                  <a:pt x="90488" y="95250"/>
                </a:cubicBezTo>
                <a:lnTo>
                  <a:pt x="114300" y="95250"/>
                </a:lnTo>
                <a:cubicBezTo>
                  <a:pt x="124807" y="95250"/>
                  <a:pt x="133350" y="103793"/>
                  <a:pt x="133350" y="1143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114300"/>
                </a:lnTo>
                <a:cubicBezTo>
                  <a:pt x="0" y="103793"/>
                  <a:pt x="8543" y="95250"/>
                  <a:pt x="19050" y="95250"/>
                </a:cubicBezTo>
                <a:lnTo>
                  <a:pt x="42863" y="95250"/>
                </a:lnTo>
                <a:cubicBezTo>
                  <a:pt x="42863" y="108406"/>
                  <a:pt x="53519" y="119062"/>
                  <a:pt x="66675" y="119062"/>
                </a:cubicBezTo>
                <a:close/>
                <a:moveTo>
                  <a:pt x="109537" y="126206"/>
                </a:moveTo>
                <a:cubicBezTo>
                  <a:pt x="113480" y="126206"/>
                  <a:pt x="116681" y="123005"/>
                  <a:pt x="116681" y="119062"/>
                </a:cubicBezTo>
                <a:cubicBezTo>
                  <a:pt x="116681" y="115120"/>
                  <a:pt x="113480" y="111919"/>
                  <a:pt x="109537" y="111919"/>
                </a:cubicBezTo>
                <a:cubicBezTo>
                  <a:pt x="105595" y="111919"/>
                  <a:pt x="102394" y="115120"/>
                  <a:pt x="102394" y="119062"/>
                </a:cubicBezTo>
                <a:cubicBezTo>
                  <a:pt x="102394" y="123005"/>
                  <a:pt x="105595" y="126206"/>
                  <a:pt x="109537" y="126206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714661" y="2377446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Upload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47961" y="2644146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send files via Telegram, stored in S3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47961" y="2910846"/>
            <a:ext cx="638175" cy="190500"/>
          </a:xfrm>
          <a:custGeom>
            <a:avLst/>
            <a:gdLst/>
            <a:ahLst/>
            <a:cxnLst/>
            <a:rect l="l" t="t" r="r" b="b"/>
            <a:pathLst>
              <a:path w="638175" h="190500">
                <a:moveTo>
                  <a:pt x="38100" y="0"/>
                </a:moveTo>
                <a:lnTo>
                  <a:pt x="600075" y="0"/>
                </a:lnTo>
                <a:cubicBezTo>
                  <a:pt x="621103" y="0"/>
                  <a:pt x="638175" y="17072"/>
                  <a:pt x="638175" y="38100"/>
                </a:cubicBezTo>
                <a:lnTo>
                  <a:pt x="638175" y="152400"/>
                </a:lnTo>
                <a:cubicBezTo>
                  <a:pt x="638175" y="173428"/>
                  <a:pt x="621103" y="190500"/>
                  <a:pt x="6000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447961" y="2910846"/>
            <a:ext cx="6953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PutObject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126974" y="2910846"/>
            <a:ext cx="714375" cy="190500"/>
          </a:xfrm>
          <a:custGeom>
            <a:avLst/>
            <a:gdLst/>
            <a:ahLst/>
            <a:cxnLst/>
            <a:rect l="l" t="t" r="r" b="b"/>
            <a:pathLst>
              <a:path w="714375" h="190500">
                <a:moveTo>
                  <a:pt x="38100" y="0"/>
                </a:moveTo>
                <a:lnTo>
                  <a:pt x="676275" y="0"/>
                </a:lnTo>
                <a:cubicBezTo>
                  <a:pt x="697303" y="0"/>
                  <a:pt x="714375" y="17072"/>
                  <a:pt x="714375" y="38100"/>
                </a:cubicBezTo>
                <a:lnTo>
                  <a:pt x="714375" y="152400"/>
                </a:lnTo>
                <a:cubicBezTo>
                  <a:pt x="714375" y="173428"/>
                  <a:pt x="697303" y="190500"/>
                  <a:pt x="6762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126974" y="2910846"/>
            <a:ext cx="7715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unique_key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29851" y="3341253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467011" y="34974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714661" y="3459361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List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447961" y="3726061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all uploaded files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47961" y="3992761"/>
            <a:ext cx="704850" cy="190500"/>
          </a:xfrm>
          <a:custGeom>
            <a:avLst/>
            <a:gdLst/>
            <a:ahLst/>
            <a:cxnLst/>
            <a:rect l="l" t="t" r="r" b="b"/>
            <a:pathLst>
              <a:path w="704850" h="190500">
                <a:moveTo>
                  <a:pt x="38100" y="0"/>
                </a:moveTo>
                <a:lnTo>
                  <a:pt x="666750" y="0"/>
                </a:lnTo>
                <a:cubicBezTo>
                  <a:pt x="687778" y="0"/>
                  <a:pt x="704850" y="17072"/>
                  <a:pt x="704850" y="38100"/>
                </a:cubicBezTo>
                <a:lnTo>
                  <a:pt x="704850" y="152400"/>
                </a:lnTo>
                <a:cubicBezTo>
                  <a:pt x="704850" y="173428"/>
                  <a:pt x="687778" y="190500"/>
                  <a:pt x="666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447961" y="3992761"/>
            <a:ext cx="7620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ListObjects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186506" y="3992761"/>
            <a:ext cx="676275" cy="190500"/>
          </a:xfrm>
          <a:custGeom>
            <a:avLst/>
            <a:gdLst/>
            <a:ahLst/>
            <a:cxnLst/>
            <a:rect l="l" t="t" r="r" b="b"/>
            <a:pathLst>
              <a:path w="676275" h="190500">
                <a:moveTo>
                  <a:pt x="38100" y="0"/>
                </a:moveTo>
                <a:lnTo>
                  <a:pt x="638175" y="0"/>
                </a:lnTo>
                <a:cubicBezTo>
                  <a:pt x="659203" y="0"/>
                  <a:pt x="676275" y="17072"/>
                  <a:pt x="676275" y="38100"/>
                </a:cubicBezTo>
                <a:lnTo>
                  <a:pt x="676275" y="152400"/>
                </a:lnTo>
                <a:cubicBezTo>
                  <a:pt x="676275" y="173428"/>
                  <a:pt x="659203" y="190500"/>
                  <a:pt x="6381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9186506" y="3992761"/>
            <a:ext cx="7334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prefix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131731" y="5703574"/>
            <a:ext cx="3674745" cy="769620"/>
          </a:xfrm>
          <a:custGeom>
            <a:avLst/>
            <a:gdLst/>
            <a:ahLst/>
            <a:cxnLst/>
            <a:rect l="l" t="t" r="r" b="b"/>
            <a:pathLst>
              <a:path w="3674745" h="7696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693420"/>
                </a:lnTo>
                <a:cubicBezTo>
                  <a:pt x="3674745" y="735504"/>
                  <a:pt x="3640629" y="769620"/>
                  <a:pt x="35985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8297466" y="59931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567618" y="5859782"/>
            <a:ext cx="3162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compute + storage integration with automatic scaling</a:t>
            </a:r>
            <a:endParaRPr lang="en-US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E576CA-14CB-8E24-666A-C4F65439D942}"/>
              </a:ext>
            </a:extLst>
          </p:cNvPr>
          <p:cNvSpPr txBox="1"/>
          <p:nvPr/>
        </p:nvSpPr>
        <p:spPr>
          <a:xfrm>
            <a:off x="11806476" y="6488668"/>
            <a:ext cx="440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13</a:t>
            </a:r>
            <a:endParaRPr lang="en-IN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E8E4C67-9043-692F-41BA-C084B505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  <p:sp>
        <p:nvSpPr>
          <p:cNvPr id="76" name="Shape 61">
            <a:extLst>
              <a:ext uri="{FF2B5EF4-FFF2-40B4-BE49-F238E27FC236}">
                <a16:creationId xmlns:a16="http://schemas.microsoft.com/office/drawing/2014/main" id="{91180FC2-630D-8E59-A593-5914C613040C}"/>
              </a:ext>
            </a:extLst>
          </p:cNvPr>
          <p:cNvSpPr/>
          <p:nvPr/>
        </p:nvSpPr>
        <p:spPr>
          <a:xfrm>
            <a:off x="8326041" y="4472819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20D34793-89B4-78A0-BEAC-C04D28C509F4}"/>
              </a:ext>
            </a:extLst>
          </p:cNvPr>
          <p:cNvSpPr/>
          <p:nvPr/>
        </p:nvSpPr>
        <p:spPr>
          <a:xfrm rot="10648813">
            <a:off x="8456800" y="46619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32534"/>
                </a:moveTo>
                <a:lnTo>
                  <a:pt x="76200" y="95250"/>
                </a:lnTo>
                <a:cubicBezTo>
                  <a:pt x="76200" y="100519"/>
                  <a:pt x="71944" y="104775"/>
                  <a:pt x="66675" y="104775"/>
                </a:cubicBezTo>
                <a:cubicBezTo>
                  <a:pt x="61406" y="104775"/>
                  <a:pt x="57150" y="100519"/>
                  <a:pt x="57150" y="95250"/>
                </a:cubicBezTo>
                <a:lnTo>
                  <a:pt x="57150" y="32534"/>
                </a:lnTo>
                <a:lnTo>
                  <a:pt x="44827" y="44857"/>
                </a:lnTo>
                <a:cubicBezTo>
                  <a:pt x="41106" y="48578"/>
                  <a:pt x="35064" y="48578"/>
                  <a:pt x="31343" y="44857"/>
                </a:cubicBezTo>
                <a:cubicBezTo>
                  <a:pt x="27622" y="41136"/>
                  <a:pt x="27622" y="35094"/>
                  <a:pt x="31343" y="31373"/>
                </a:cubicBezTo>
                <a:lnTo>
                  <a:pt x="59918" y="2798"/>
                </a:lnTo>
                <a:cubicBezTo>
                  <a:pt x="63639" y="-923"/>
                  <a:pt x="69681" y="-923"/>
                  <a:pt x="73402" y="2798"/>
                </a:cubicBezTo>
                <a:lnTo>
                  <a:pt x="101977" y="31373"/>
                </a:lnTo>
                <a:cubicBezTo>
                  <a:pt x="105698" y="35094"/>
                  <a:pt x="105698" y="41136"/>
                  <a:pt x="101977" y="44857"/>
                </a:cubicBezTo>
                <a:cubicBezTo>
                  <a:pt x="98256" y="48578"/>
                  <a:pt x="92214" y="48578"/>
                  <a:pt x="88493" y="44857"/>
                </a:cubicBezTo>
                <a:lnTo>
                  <a:pt x="76200" y="32534"/>
                </a:lnTo>
                <a:close/>
                <a:moveTo>
                  <a:pt x="66675" y="119062"/>
                </a:moveTo>
                <a:cubicBezTo>
                  <a:pt x="79831" y="119062"/>
                  <a:pt x="90488" y="108406"/>
                  <a:pt x="90488" y="95250"/>
                </a:cubicBezTo>
                <a:lnTo>
                  <a:pt x="114300" y="95250"/>
                </a:lnTo>
                <a:cubicBezTo>
                  <a:pt x="124807" y="95250"/>
                  <a:pt x="133350" y="103793"/>
                  <a:pt x="133350" y="1143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114300"/>
                </a:lnTo>
                <a:cubicBezTo>
                  <a:pt x="0" y="103793"/>
                  <a:pt x="8543" y="95250"/>
                  <a:pt x="19050" y="95250"/>
                </a:cubicBezTo>
                <a:lnTo>
                  <a:pt x="42863" y="95250"/>
                </a:lnTo>
                <a:cubicBezTo>
                  <a:pt x="42863" y="108406"/>
                  <a:pt x="53519" y="119062"/>
                  <a:pt x="66675" y="119062"/>
                </a:cubicBezTo>
                <a:close/>
                <a:moveTo>
                  <a:pt x="109537" y="126206"/>
                </a:moveTo>
                <a:cubicBezTo>
                  <a:pt x="113480" y="126206"/>
                  <a:pt x="116681" y="123005"/>
                  <a:pt x="116681" y="119062"/>
                </a:cubicBezTo>
                <a:cubicBezTo>
                  <a:pt x="116681" y="115120"/>
                  <a:pt x="113480" y="111919"/>
                  <a:pt x="109537" y="111919"/>
                </a:cubicBezTo>
                <a:cubicBezTo>
                  <a:pt x="105595" y="111919"/>
                  <a:pt x="102394" y="115120"/>
                  <a:pt x="102394" y="119062"/>
                </a:cubicBezTo>
                <a:cubicBezTo>
                  <a:pt x="102394" y="123005"/>
                  <a:pt x="105595" y="126206"/>
                  <a:pt x="109537" y="126206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6722E9A3-E623-4729-6ED7-6B41EAD2D8F5}"/>
              </a:ext>
            </a:extLst>
          </p:cNvPr>
          <p:cNvSpPr/>
          <p:nvPr/>
        </p:nvSpPr>
        <p:spPr>
          <a:xfrm>
            <a:off x="8767048" y="4623844"/>
            <a:ext cx="1074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Download</a:t>
            </a:r>
            <a:endParaRPr lang="en-US" sz="1600" dirty="0"/>
          </a:p>
        </p:txBody>
      </p:sp>
      <p:sp>
        <p:nvSpPr>
          <p:cNvPr id="81" name="Text 64">
            <a:extLst>
              <a:ext uri="{FF2B5EF4-FFF2-40B4-BE49-F238E27FC236}">
                <a16:creationId xmlns:a16="http://schemas.microsoft.com/office/drawing/2014/main" id="{0E95FBEC-3652-F449-9C29-154135CD203D}"/>
              </a:ext>
            </a:extLst>
          </p:cNvPr>
          <p:cNvSpPr/>
          <p:nvPr/>
        </p:nvSpPr>
        <p:spPr>
          <a:xfrm>
            <a:off x="8453514" y="4925243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uploaded files</a:t>
            </a:r>
            <a:endParaRPr lang="en-US" sz="1600" dirty="0"/>
          </a:p>
        </p:txBody>
      </p:sp>
      <p:sp>
        <p:nvSpPr>
          <p:cNvPr id="82" name="Text 68">
            <a:extLst>
              <a:ext uri="{FF2B5EF4-FFF2-40B4-BE49-F238E27FC236}">
                <a16:creationId xmlns:a16="http://schemas.microsoft.com/office/drawing/2014/main" id="{E9B5D067-0647-0803-0AC2-6814D5E6D45F}"/>
              </a:ext>
            </a:extLst>
          </p:cNvPr>
          <p:cNvSpPr/>
          <p:nvPr/>
        </p:nvSpPr>
        <p:spPr>
          <a:xfrm>
            <a:off x="8419386" y="5166247"/>
            <a:ext cx="7334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prefix</a:t>
            </a:r>
            <a:endParaRPr lang="en-US" sz="1600" dirty="0"/>
          </a:p>
        </p:txBody>
      </p:sp>
      <p:sp>
        <p:nvSpPr>
          <p:cNvPr id="84" name="Shape 67">
            <a:extLst>
              <a:ext uri="{FF2B5EF4-FFF2-40B4-BE49-F238E27FC236}">
                <a16:creationId xmlns:a16="http://schemas.microsoft.com/office/drawing/2014/main" id="{719F2361-AC01-C664-0E24-099870401343}"/>
              </a:ext>
            </a:extLst>
          </p:cNvPr>
          <p:cNvSpPr/>
          <p:nvPr/>
        </p:nvSpPr>
        <p:spPr>
          <a:xfrm>
            <a:off x="8428910" y="5175809"/>
            <a:ext cx="676275" cy="190500"/>
          </a:xfrm>
          <a:custGeom>
            <a:avLst/>
            <a:gdLst/>
            <a:ahLst/>
            <a:cxnLst/>
            <a:rect l="l" t="t" r="r" b="b"/>
            <a:pathLst>
              <a:path w="676275" h="190500">
                <a:moveTo>
                  <a:pt x="38100" y="0"/>
                </a:moveTo>
                <a:lnTo>
                  <a:pt x="638175" y="0"/>
                </a:lnTo>
                <a:cubicBezTo>
                  <a:pt x="659203" y="0"/>
                  <a:pt x="676275" y="17072"/>
                  <a:pt x="676275" y="38100"/>
                </a:cubicBezTo>
                <a:lnTo>
                  <a:pt x="676275" y="152400"/>
                </a:lnTo>
                <a:cubicBezTo>
                  <a:pt x="676275" y="173428"/>
                  <a:pt x="659203" y="190500"/>
                  <a:pt x="6381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67">
            <a:extLst>
              <a:ext uri="{FF2B5EF4-FFF2-40B4-BE49-F238E27FC236}">
                <a16:creationId xmlns:a16="http://schemas.microsoft.com/office/drawing/2014/main" id="{F6094C4C-2110-8673-147E-3E163ED09AFB}"/>
              </a:ext>
            </a:extLst>
          </p:cNvPr>
          <p:cNvSpPr/>
          <p:nvPr/>
        </p:nvSpPr>
        <p:spPr>
          <a:xfrm>
            <a:off x="9152811" y="5175809"/>
            <a:ext cx="676275" cy="190500"/>
          </a:xfrm>
          <a:custGeom>
            <a:avLst/>
            <a:gdLst/>
            <a:ahLst/>
            <a:cxnLst/>
            <a:rect l="l" t="t" r="r" b="b"/>
            <a:pathLst>
              <a:path w="676275" h="190500">
                <a:moveTo>
                  <a:pt x="38100" y="0"/>
                </a:moveTo>
                <a:lnTo>
                  <a:pt x="638175" y="0"/>
                </a:lnTo>
                <a:cubicBezTo>
                  <a:pt x="659203" y="0"/>
                  <a:pt x="676275" y="17072"/>
                  <a:pt x="676275" y="38100"/>
                </a:cubicBezTo>
                <a:lnTo>
                  <a:pt x="676275" y="152400"/>
                </a:lnTo>
                <a:cubicBezTo>
                  <a:pt x="676275" y="173428"/>
                  <a:pt x="659203" y="190500"/>
                  <a:pt x="6381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60">
            <a:extLst>
              <a:ext uri="{FF2B5EF4-FFF2-40B4-BE49-F238E27FC236}">
                <a16:creationId xmlns:a16="http://schemas.microsoft.com/office/drawing/2014/main" id="{DA900019-38DF-5048-57F8-B0A6CD05B61D}"/>
              </a:ext>
            </a:extLst>
          </p:cNvPr>
          <p:cNvSpPr/>
          <p:nvPr/>
        </p:nvSpPr>
        <p:spPr>
          <a:xfrm>
            <a:off x="9157573" y="5159722"/>
            <a:ext cx="7715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unique_key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 INTEGRATIONS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API Integrations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microservice communication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2712720" cy="2369820"/>
          </a:xfrm>
          <a:custGeom>
            <a:avLst/>
            <a:gdLst/>
            <a:ahLst/>
            <a:cxnLst/>
            <a:rect l="l" t="t" r="r" b="b"/>
            <a:pathLst>
              <a:path w="2712720" h="2369820">
                <a:moveTo>
                  <a:pt x="76190" y="0"/>
                </a:moveTo>
                <a:lnTo>
                  <a:pt x="2636530" y="0"/>
                </a:lnTo>
                <a:cubicBezTo>
                  <a:pt x="2678581" y="0"/>
                  <a:pt x="2712720" y="34139"/>
                  <a:pt x="2712720" y="76190"/>
                </a:cubicBezTo>
                <a:lnTo>
                  <a:pt x="2712720" y="2293630"/>
                </a:lnTo>
                <a:cubicBezTo>
                  <a:pt x="2712720" y="2335709"/>
                  <a:pt x="2678609" y="2369820"/>
                  <a:pt x="2636530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760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9133" y="18745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02525" y="-6608"/>
                </a:moveTo>
                <a:cubicBezTo>
                  <a:pt x="204713" y="-5715"/>
                  <a:pt x="206320" y="-3750"/>
                  <a:pt x="206767" y="-1429"/>
                </a:cubicBezTo>
                <a:lnTo>
                  <a:pt x="214313" y="35719"/>
                </a:lnTo>
                <a:lnTo>
                  <a:pt x="251460" y="43220"/>
                </a:lnTo>
                <a:cubicBezTo>
                  <a:pt x="253782" y="43711"/>
                  <a:pt x="255702" y="45274"/>
                  <a:pt x="256639" y="47461"/>
                </a:cubicBezTo>
                <a:cubicBezTo>
                  <a:pt x="257577" y="49649"/>
                  <a:pt x="257309" y="52149"/>
                  <a:pt x="256014" y="54114"/>
                </a:cubicBezTo>
                <a:lnTo>
                  <a:pt x="235074" y="85680"/>
                </a:lnTo>
                <a:lnTo>
                  <a:pt x="256014" y="117247"/>
                </a:lnTo>
                <a:cubicBezTo>
                  <a:pt x="257309" y="119211"/>
                  <a:pt x="257577" y="121712"/>
                  <a:pt x="256639" y="123899"/>
                </a:cubicBezTo>
                <a:cubicBezTo>
                  <a:pt x="255702" y="126087"/>
                  <a:pt x="253782" y="127695"/>
                  <a:pt x="251460" y="128141"/>
                </a:cubicBezTo>
                <a:lnTo>
                  <a:pt x="223689" y="133811"/>
                </a:lnTo>
                <a:cubicBezTo>
                  <a:pt x="218376" y="129927"/>
                  <a:pt x="212482" y="126846"/>
                  <a:pt x="206097" y="124703"/>
                </a:cubicBezTo>
                <a:cubicBezTo>
                  <a:pt x="204981" y="119033"/>
                  <a:pt x="203061" y="113675"/>
                  <a:pt x="200427" y="108764"/>
                </a:cubicBezTo>
                <a:cubicBezTo>
                  <a:pt x="204668" y="102111"/>
                  <a:pt x="207169" y="94208"/>
                  <a:pt x="207169" y="85680"/>
                </a:cubicBezTo>
                <a:cubicBezTo>
                  <a:pt x="207169" y="62017"/>
                  <a:pt x="187970" y="42818"/>
                  <a:pt x="164306" y="42818"/>
                </a:cubicBezTo>
                <a:cubicBezTo>
                  <a:pt x="142920" y="42818"/>
                  <a:pt x="125194" y="58489"/>
                  <a:pt x="121980" y="78938"/>
                </a:cubicBezTo>
                <a:cubicBezTo>
                  <a:pt x="110148" y="69875"/>
                  <a:pt x="95414" y="64428"/>
                  <a:pt x="79385" y="64249"/>
                </a:cubicBezTo>
                <a:lnTo>
                  <a:pt x="72643" y="54114"/>
                </a:lnTo>
                <a:cubicBezTo>
                  <a:pt x="71348" y="52149"/>
                  <a:pt x="71080" y="49649"/>
                  <a:pt x="72018" y="47461"/>
                </a:cubicBezTo>
                <a:cubicBezTo>
                  <a:pt x="72956" y="45274"/>
                  <a:pt x="74875" y="43666"/>
                  <a:pt x="77197" y="43220"/>
                </a:cubicBezTo>
                <a:lnTo>
                  <a:pt x="114300" y="35719"/>
                </a:lnTo>
                <a:lnTo>
                  <a:pt x="121801" y="-1429"/>
                </a:lnTo>
                <a:cubicBezTo>
                  <a:pt x="122292" y="-3750"/>
                  <a:pt x="123855" y="-5670"/>
                  <a:pt x="126043" y="-6608"/>
                </a:cubicBezTo>
                <a:cubicBezTo>
                  <a:pt x="128230" y="-7546"/>
                  <a:pt x="130731" y="-7278"/>
                  <a:pt x="132695" y="-5983"/>
                </a:cubicBezTo>
                <a:lnTo>
                  <a:pt x="164306" y="15002"/>
                </a:lnTo>
                <a:lnTo>
                  <a:pt x="195873" y="-5938"/>
                </a:lnTo>
                <a:cubicBezTo>
                  <a:pt x="197837" y="-7233"/>
                  <a:pt x="200338" y="-7501"/>
                  <a:pt x="202525" y="-6563"/>
                </a:cubicBezTo>
                <a:close/>
                <a:moveTo>
                  <a:pt x="185738" y="85725"/>
                </a:moveTo>
                <a:cubicBezTo>
                  <a:pt x="185738" y="87422"/>
                  <a:pt x="185559" y="89074"/>
                  <a:pt x="185157" y="90681"/>
                </a:cubicBezTo>
                <a:cubicBezTo>
                  <a:pt x="175468" y="83091"/>
                  <a:pt x="163279" y="78581"/>
                  <a:pt x="150019" y="78581"/>
                </a:cubicBezTo>
                <a:cubicBezTo>
                  <a:pt x="147965" y="78581"/>
                  <a:pt x="145956" y="78671"/>
                  <a:pt x="143991" y="78894"/>
                </a:cubicBezTo>
                <a:cubicBezTo>
                  <a:pt x="146849" y="70411"/>
                  <a:pt x="154885" y="64294"/>
                  <a:pt x="164306" y="64294"/>
                </a:cubicBezTo>
                <a:cubicBezTo>
                  <a:pt x="176138" y="64294"/>
                  <a:pt x="185738" y="73893"/>
                  <a:pt x="185738" y="85725"/>
                </a:cubicBezTo>
                <a:close/>
                <a:moveTo>
                  <a:pt x="42863" y="228600"/>
                </a:moveTo>
                <a:cubicBezTo>
                  <a:pt x="19199" y="228600"/>
                  <a:pt x="0" y="209401"/>
                  <a:pt x="0" y="185738"/>
                </a:cubicBezTo>
                <a:cubicBezTo>
                  <a:pt x="0" y="166762"/>
                  <a:pt x="12323" y="150644"/>
                  <a:pt x="29423" y="145018"/>
                </a:cubicBezTo>
                <a:cubicBezTo>
                  <a:pt x="28843" y="142027"/>
                  <a:pt x="28575" y="138901"/>
                  <a:pt x="28575" y="135731"/>
                </a:cubicBezTo>
                <a:cubicBezTo>
                  <a:pt x="28575" y="108094"/>
                  <a:pt x="50944" y="85725"/>
                  <a:pt x="78581" y="85725"/>
                </a:cubicBezTo>
                <a:cubicBezTo>
                  <a:pt x="97825" y="85725"/>
                  <a:pt x="114523" y="96575"/>
                  <a:pt x="122873" y="112514"/>
                </a:cubicBezTo>
                <a:cubicBezTo>
                  <a:pt x="129436" y="104879"/>
                  <a:pt x="139169" y="100013"/>
                  <a:pt x="150019" y="100013"/>
                </a:cubicBezTo>
                <a:cubicBezTo>
                  <a:pt x="169753" y="100013"/>
                  <a:pt x="185738" y="115997"/>
                  <a:pt x="185738" y="135731"/>
                </a:cubicBezTo>
                <a:cubicBezTo>
                  <a:pt x="185738" y="138187"/>
                  <a:pt x="185470" y="140553"/>
                  <a:pt x="185023" y="142875"/>
                </a:cubicBezTo>
                <a:cubicBezTo>
                  <a:pt x="185246" y="142875"/>
                  <a:pt x="185514" y="142875"/>
                  <a:pt x="185738" y="142875"/>
                </a:cubicBez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42863" y="228600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0620" y="1855468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331718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Open-Meteo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59841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weather data by location with 7-day forecast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3169918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9120" y="3169918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GET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57895" y="3169918"/>
            <a:ext cx="409575" cy="228600"/>
          </a:xfrm>
          <a:custGeom>
            <a:avLst/>
            <a:gdLst/>
            <a:ahLst/>
            <a:cxnLst/>
            <a:rect l="l" t="t" r="r" b="b"/>
            <a:pathLst>
              <a:path w="409575" h="2286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190499"/>
                </a:lnTo>
                <a:cubicBezTo>
                  <a:pt x="409575" y="211542"/>
                  <a:pt x="392517" y="228600"/>
                  <a:pt x="371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57895" y="3169918"/>
            <a:ext cx="4667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1360" y="1565910"/>
            <a:ext cx="2712720" cy="2369820"/>
          </a:xfrm>
          <a:custGeom>
            <a:avLst/>
            <a:gdLst/>
            <a:ahLst/>
            <a:cxnLst/>
            <a:rect l="l" t="t" r="r" b="b"/>
            <a:pathLst>
              <a:path w="2712720" h="2369820">
                <a:moveTo>
                  <a:pt x="76190" y="0"/>
                </a:moveTo>
                <a:lnTo>
                  <a:pt x="2636530" y="0"/>
                </a:lnTo>
                <a:cubicBezTo>
                  <a:pt x="2678581" y="0"/>
                  <a:pt x="2712720" y="34139"/>
                  <a:pt x="2712720" y="76190"/>
                </a:cubicBezTo>
                <a:lnTo>
                  <a:pt x="2712720" y="2293630"/>
                </a:lnTo>
                <a:cubicBezTo>
                  <a:pt x="2712720" y="2335709"/>
                  <a:pt x="2678609" y="2369820"/>
                  <a:pt x="2636530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55670" y="1760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569970" y="18745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5738"/>
                </a:moveTo>
                <a:lnTo>
                  <a:pt x="0" y="53578"/>
                </a:lnTo>
                <a:cubicBezTo>
                  <a:pt x="0" y="47640"/>
                  <a:pt x="4777" y="42863"/>
                  <a:pt x="10716" y="42863"/>
                </a:cubicBezTo>
                <a:cubicBezTo>
                  <a:pt x="16654" y="42863"/>
                  <a:pt x="21431" y="47640"/>
                  <a:pt x="21431" y="53578"/>
                </a:cubicBezTo>
                <a:lnTo>
                  <a:pt x="21431" y="182166"/>
                </a:lnTo>
                <a:cubicBezTo>
                  <a:pt x="21431" y="188104"/>
                  <a:pt x="26209" y="192881"/>
                  <a:pt x="32147" y="192881"/>
                </a:cubicBezTo>
                <a:cubicBezTo>
                  <a:pt x="38085" y="192881"/>
                  <a:pt x="42863" y="188104"/>
                  <a:pt x="42863" y="182166"/>
                </a:cubicBezTo>
                <a:lnTo>
                  <a:pt x="42863" y="42863"/>
                </a:lnTo>
                <a:cubicBezTo>
                  <a:pt x="42863" y="27102"/>
                  <a:pt x="55677" y="14288"/>
                  <a:pt x="71438" y="14288"/>
                </a:cubicBezTo>
                <a:lnTo>
                  <a:pt x="200025" y="14288"/>
                </a:lnTo>
                <a:cubicBezTo>
                  <a:pt x="215786" y="14288"/>
                  <a:pt x="228600" y="27102"/>
                  <a:pt x="228600" y="42863"/>
                </a:cubicBezTo>
                <a:lnTo>
                  <a:pt x="228600" y="185738"/>
                </a:lnTo>
                <a:cubicBezTo>
                  <a:pt x="228600" y="201498"/>
                  <a:pt x="215786" y="214313"/>
                  <a:pt x="200025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  <a:moveTo>
                  <a:pt x="71438" y="57150"/>
                </a:moveTo>
                <a:lnTo>
                  <a:pt x="71438" y="85725"/>
                </a:lnTo>
                <a:cubicBezTo>
                  <a:pt x="71438" y="93628"/>
                  <a:pt x="77822" y="100013"/>
                  <a:pt x="85725" y="100013"/>
                </a:cubicBezTo>
                <a:lnTo>
                  <a:pt x="114300" y="100013"/>
                </a:lnTo>
                <a:cubicBezTo>
                  <a:pt x="122203" y="100013"/>
                  <a:pt x="128588" y="93628"/>
                  <a:pt x="128588" y="85725"/>
                </a:cubicBezTo>
                <a:lnTo>
                  <a:pt x="128588" y="57150"/>
                </a:lnTo>
                <a:cubicBezTo>
                  <a:pt x="128588" y="49247"/>
                  <a:pt x="122203" y="42863"/>
                  <a:pt x="114300" y="42863"/>
                </a:cubicBezTo>
                <a:lnTo>
                  <a:pt x="85725" y="42863"/>
                </a:lnTo>
                <a:cubicBezTo>
                  <a:pt x="77822" y="42863"/>
                  <a:pt x="71438" y="49247"/>
                  <a:pt x="71438" y="57150"/>
                </a:cubicBezTo>
                <a:close/>
                <a:moveTo>
                  <a:pt x="82153" y="164306"/>
                </a:moveTo>
                <a:cubicBezTo>
                  <a:pt x="76215" y="164306"/>
                  <a:pt x="71438" y="169084"/>
                  <a:pt x="71438" y="175022"/>
                </a:cubicBezTo>
                <a:cubicBezTo>
                  <a:pt x="71438" y="180960"/>
                  <a:pt x="76215" y="185738"/>
                  <a:pt x="82153" y="185738"/>
                </a:cubicBezTo>
                <a:lnTo>
                  <a:pt x="189309" y="185738"/>
                </a:lnTo>
                <a:cubicBezTo>
                  <a:pt x="195248" y="185738"/>
                  <a:pt x="200025" y="180960"/>
                  <a:pt x="200025" y="175022"/>
                </a:cubicBezTo>
                <a:cubicBezTo>
                  <a:pt x="200025" y="169084"/>
                  <a:pt x="195248" y="164306"/>
                  <a:pt x="189309" y="164306"/>
                </a:cubicBezTo>
                <a:lnTo>
                  <a:pt x="82153" y="164306"/>
                </a:lnTo>
                <a:close/>
                <a:moveTo>
                  <a:pt x="71438" y="132159"/>
                </a:moveTo>
                <a:cubicBezTo>
                  <a:pt x="71438" y="138098"/>
                  <a:pt x="76215" y="142875"/>
                  <a:pt x="82153" y="142875"/>
                </a:cubicBezTo>
                <a:lnTo>
                  <a:pt x="189309" y="142875"/>
                </a:lnTo>
                <a:cubicBezTo>
                  <a:pt x="195248" y="142875"/>
                  <a:pt x="200025" y="138098"/>
                  <a:pt x="200025" y="132159"/>
                </a:cubicBezTo>
                <a:cubicBezTo>
                  <a:pt x="200025" y="126221"/>
                  <a:pt x="195248" y="121444"/>
                  <a:pt x="189309" y="121444"/>
                </a:cubicBezTo>
                <a:lnTo>
                  <a:pt x="82153" y="121444"/>
                </a:lnTo>
                <a:cubicBezTo>
                  <a:pt x="76215" y="121444"/>
                  <a:pt x="71438" y="126221"/>
                  <a:pt x="71438" y="132159"/>
                </a:cubicBezTo>
                <a:close/>
                <a:moveTo>
                  <a:pt x="160734" y="78581"/>
                </a:moveTo>
                <a:cubicBezTo>
                  <a:pt x="154796" y="78581"/>
                  <a:pt x="150019" y="83359"/>
                  <a:pt x="150019" y="89297"/>
                </a:cubicBezTo>
                <a:cubicBezTo>
                  <a:pt x="150019" y="95235"/>
                  <a:pt x="154796" y="100013"/>
                  <a:pt x="160734" y="100013"/>
                </a:cubicBezTo>
                <a:lnTo>
                  <a:pt x="189309" y="100013"/>
                </a:lnTo>
                <a:cubicBezTo>
                  <a:pt x="195248" y="100013"/>
                  <a:pt x="200025" y="95235"/>
                  <a:pt x="200025" y="89297"/>
                </a:cubicBezTo>
                <a:cubicBezTo>
                  <a:pt x="200025" y="83359"/>
                  <a:pt x="195248" y="78581"/>
                  <a:pt x="189309" y="78581"/>
                </a:cubicBezTo>
                <a:lnTo>
                  <a:pt x="160734" y="78581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27170" y="1855468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55670" y="2331718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GDELT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55670" y="259841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news events and trending topics with sentiment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55670" y="3169918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55670" y="3169918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GET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34445" y="3169918"/>
            <a:ext cx="409575" cy="228600"/>
          </a:xfrm>
          <a:custGeom>
            <a:avLst/>
            <a:gdLst/>
            <a:ahLst/>
            <a:cxnLst/>
            <a:rect l="l" t="t" r="r" b="b"/>
            <a:pathLst>
              <a:path w="409575" h="2286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190499"/>
                </a:lnTo>
                <a:cubicBezTo>
                  <a:pt x="409575" y="211542"/>
                  <a:pt x="392517" y="228600"/>
                  <a:pt x="371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34445" y="3169918"/>
            <a:ext cx="4667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4099560"/>
            <a:ext cx="2712720" cy="2369820"/>
          </a:xfrm>
          <a:custGeom>
            <a:avLst/>
            <a:gdLst/>
            <a:ahLst/>
            <a:cxnLst/>
            <a:rect l="l" t="t" r="r" b="b"/>
            <a:pathLst>
              <a:path w="2712720" h="2369820">
                <a:moveTo>
                  <a:pt x="76190" y="0"/>
                </a:moveTo>
                <a:lnTo>
                  <a:pt x="2636530" y="0"/>
                </a:lnTo>
                <a:cubicBezTo>
                  <a:pt x="2678581" y="0"/>
                  <a:pt x="2712720" y="34139"/>
                  <a:pt x="2712720" y="76190"/>
                </a:cubicBezTo>
                <a:lnTo>
                  <a:pt x="2712720" y="2293630"/>
                </a:lnTo>
                <a:cubicBezTo>
                  <a:pt x="2712720" y="2335709"/>
                  <a:pt x="2678609" y="2369820"/>
                  <a:pt x="2636530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79120" y="42938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93420" y="44081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50620" y="4389118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Trivia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120" y="4865368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OpenTriviaDB API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120" y="513206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Quiz questions across categories with difficulty levels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9120" y="5703568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79120" y="5703568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GET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57895" y="5703568"/>
            <a:ext cx="409575" cy="228600"/>
          </a:xfrm>
          <a:custGeom>
            <a:avLst/>
            <a:gdLst/>
            <a:ahLst/>
            <a:cxnLst/>
            <a:rect l="l" t="t" r="r" b="b"/>
            <a:pathLst>
              <a:path w="409575" h="2286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190499"/>
                </a:lnTo>
                <a:cubicBezTo>
                  <a:pt x="409575" y="211542"/>
                  <a:pt x="392517" y="228600"/>
                  <a:pt x="371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257895" y="5703568"/>
            <a:ext cx="4667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61360" y="4099560"/>
            <a:ext cx="2712720" cy="2369820"/>
          </a:xfrm>
          <a:custGeom>
            <a:avLst/>
            <a:gdLst/>
            <a:ahLst/>
            <a:cxnLst/>
            <a:rect l="l" t="t" r="r" b="b"/>
            <a:pathLst>
              <a:path w="2712720" h="2369820">
                <a:moveTo>
                  <a:pt x="76190" y="0"/>
                </a:moveTo>
                <a:lnTo>
                  <a:pt x="2636530" y="0"/>
                </a:lnTo>
                <a:cubicBezTo>
                  <a:pt x="2678581" y="0"/>
                  <a:pt x="2712720" y="34139"/>
                  <a:pt x="2712720" y="76190"/>
                </a:cubicBezTo>
                <a:lnTo>
                  <a:pt x="2712720" y="2293630"/>
                </a:lnTo>
                <a:cubicBezTo>
                  <a:pt x="2712720" y="2335709"/>
                  <a:pt x="2678609" y="2369820"/>
                  <a:pt x="2636530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455670" y="42938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569970" y="44081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027170" y="4389118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55670" y="4865368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Deck of Cards API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55670" y="513206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deck operations: shuffle, draw, and card games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55670" y="5703568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55670" y="5703568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GET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134445" y="5703568"/>
            <a:ext cx="409575" cy="228600"/>
          </a:xfrm>
          <a:custGeom>
            <a:avLst/>
            <a:gdLst/>
            <a:ahLst/>
            <a:cxnLst/>
            <a:rect l="l" t="t" r="r" b="b"/>
            <a:pathLst>
              <a:path w="409575" h="2286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190499"/>
                </a:lnTo>
                <a:cubicBezTo>
                  <a:pt x="409575" y="211542"/>
                  <a:pt x="392517" y="228600"/>
                  <a:pt x="371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134445" y="5703568"/>
            <a:ext cx="4667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4110" y="1565910"/>
            <a:ext cx="5589270" cy="4170045"/>
          </a:xfrm>
          <a:custGeom>
            <a:avLst/>
            <a:gdLst/>
            <a:ahLst/>
            <a:cxnLst/>
            <a:rect l="l" t="t" r="r" b="b"/>
            <a:pathLst>
              <a:path w="5589270" h="4170045">
                <a:moveTo>
                  <a:pt x="76187" y="0"/>
                </a:moveTo>
                <a:lnTo>
                  <a:pt x="5513083" y="0"/>
                </a:lnTo>
                <a:cubicBezTo>
                  <a:pt x="5555160" y="0"/>
                  <a:pt x="5589270" y="34110"/>
                  <a:pt x="5589270" y="76187"/>
                </a:cubicBezTo>
                <a:lnTo>
                  <a:pt x="5589270" y="4093858"/>
                </a:lnTo>
                <a:cubicBezTo>
                  <a:pt x="5589270" y="4135935"/>
                  <a:pt x="5555160" y="4170045"/>
                  <a:pt x="5513083" y="4170045"/>
                </a:cubicBezTo>
                <a:lnTo>
                  <a:pt x="76187" y="4170045"/>
                </a:lnTo>
                <a:cubicBezTo>
                  <a:pt x="34110" y="4170045"/>
                  <a:pt x="0" y="4135935"/>
                  <a:pt x="0" y="4093858"/>
                </a:cubicBezTo>
                <a:lnTo>
                  <a:pt x="0" y="76187"/>
                </a:lnTo>
                <a:cubicBezTo>
                  <a:pt x="0" y="34138"/>
                  <a:pt x="34138" y="0"/>
                  <a:pt x="76187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46520" y="1798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546532" y="19126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018020" y="1874518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46520" y="2407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513195" y="24841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65620" y="2407918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Microservice Communication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65620" y="2636518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HTTP client patterns in serverless functions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46520" y="30175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22720" y="30937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65620" y="301751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Handling &amp; Timeouts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65620" y="324611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degradation when external services fail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46520" y="36271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522720" y="37033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865620" y="3627118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Hardcoded Secrets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65620" y="3855718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keys and endpoints via environment variables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14110" y="5932174"/>
            <a:ext cx="5589270" cy="541020"/>
          </a:xfrm>
          <a:custGeom>
            <a:avLst/>
            <a:gdLst/>
            <a:ahLst/>
            <a:cxnLst/>
            <a:rect l="l" t="t" r="r" b="b"/>
            <a:pathLst>
              <a:path w="5589270" h="54102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464817"/>
                </a:lnTo>
                <a:cubicBezTo>
                  <a:pt x="5589270" y="506903"/>
                  <a:pt x="5555153" y="541020"/>
                  <a:pt x="5513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382226" y="610743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722745" y="6088382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external service integration patterns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045961-AE07-EF9C-FA66-9D81FCC116AE}"/>
              </a:ext>
            </a:extLst>
          </p:cNvPr>
          <p:cNvSpPr txBox="1"/>
          <p:nvPr/>
        </p:nvSpPr>
        <p:spPr>
          <a:xfrm>
            <a:off x="11803380" y="6484747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14</a:t>
            </a:r>
            <a:endParaRPr lang="en-IN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02B4497-F61E-6FE8-7FA5-877C43FD9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1.awsstatic.com/f130a128083cd9d9adf8904089944d8cf3243434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617" r="61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00A3E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03163" y="2020254"/>
            <a:ext cx="1588770" cy="502920"/>
          </a:xfrm>
          <a:custGeom>
            <a:avLst/>
            <a:gdLst/>
            <a:ahLst/>
            <a:cxnLst/>
            <a:rect l="l" t="t" r="r" b="b"/>
            <a:pathLst>
              <a:path w="1588770" h="502920">
                <a:moveTo>
                  <a:pt x="251460" y="0"/>
                </a:moveTo>
                <a:lnTo>
                  <a:pt x="1337310" y="0"/>
                </a:lnTo>
                <a:cubicBezTo>
                  <a:pt x="1476095" y="0"/>
                  <a:pt x="1588770" y="112675"/>
                  <a:pt x="1588770" y="251460"/>
                </a:cubicBezTo>
                <a:lnTo>
                  <a:pt x="1588770" y="251460"/>
                </a:lnTo>
                <a:cubicBezTo>
                  <a:pt x="1588770" y="390245"/>
                  <a:pt x="1476095" y="502920"/>
                  <a:pt x="13373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 w="10160">
            <a:solidFill>
              <a:srgbClr val="00A3E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7948" y="2161226"/>
            <a:ext cx="121598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61780" y="2831781"/>
            <a:ext cx="8467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 &amp; Operations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57268" y="3746181"/>
            <a:ext cx="4476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Logging, monitoring, and production alerting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62626" y="459390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62663" y="4574856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37647" y="45939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266259" y="4574856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99283" y="459390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13608" y="4574856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F1E1BC-0EBA-055C-EF5E-DE8A1610C9BC}"/>
              </a:ext>
            </a:extLst>
          </p:cNvPr>
          <p:cNvSpPr txBox="1"/>
          <p:nvPr/>
        </p:nvSpPr>
        <p:spPr>
          <a:xfrm>
            <a:off x="11760460" y="6488668"/>
            <a:ext cx="43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15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B80808-4C07-8139-97E1-1DBD7D44A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650" y="344650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OBSERVABILITY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650" y="620370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4650" y="1033951"/>
            <a:ext cx="11580246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Lambda request captures comprehensive context for debugging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097" y="1416512"/>
            <a:ext cx="6813734" cy="4771682"/>
          </a:xfrm>
          <a:custGeom>
            <a:avLst/>
            <a:gdLst/>
            <a:ahLst/>
            <a:cxnLst/>
            <a:rect l="l" t="t" r="r" b="b"/>
            <a:pathLst>
              <a:path w="6813734" h="4771682">
                <a:moveTo>
                  <a:pt x="68951" y="0"/>
                </a:moveTo>
                <a:lnTo>
                  <a:pt x="6744783" y="0"/>
                </a:lnTo>
                <a:cubicBezTo>
                  <a:pt x="6782864" y="0"/>
                  <a:pt x="6813734" y="30870"/>
                  <a:pt x="6813734" y="68951"/>
                </a:cubicBezTo>
                <a:lnTo>
                  <a:pt x="6813734" y="4702731"/>
                </a:lnTo>
                <a:cubicBezTo>
                  <a:pt x="6813734" y="4740811"/>
                  <a:pt x="6782864" y="4771682"/>
                  <a:pt x="6744783" y="4771682"/>
                </a:cubicBezTo>
                <a:lnTo>
                  <a:pt x="68951" y="4771682"/>
                </a:lnTo>
                <a:cubicBezTo>
                  <a:pt x="30870" y="4771682"/>
                  <a:pt x="0" y="4740811"/>
                  <a:pt x="0" y="4702731"/>
                </a:cubicBezTo>
                <a:lnTo>
                  <a:pt x="0" y="68951"/>
                </a:lnTo>
                <a:cubicBezTo>
                  <a:pt x="0" y="30896"/>
                  <a:pt x="30896" y="0"/>
                  <a:pt x="6895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3868" y="1592282"/>
            <a:ext cx="654835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Entry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7315" y="1974844"/>
            <a:ext cx="6451851" cy="2350514"/>
          </a:xfrm>
          <a:custGeom>
            <a:avLst/>
            <a:gdLst/>
            <a:ahLst/>
            <a:cxnLst/>
            <a:rect l="l" t="t" r="r" b="b"/>
            <a:pathLst>
              <a:path w="6451851" h="2350514">
                <a:moveTo>
                  <a:pt x="68941" y="0"/>
                </a:moveTo>
                <a:lnTo>
                  <a:pt x="6382911" y="0"/>
                </a:lnTo>
                <a:cubicBezTo>
                  <a:pt x="6420986" y="0"/>
                  <a:pt x="6451851" y="30866"/>
                  <a:pt x="6451851" y="68941"/>
                </a:cubicBezTo>
                <a:lnTo>
                  <a:pt x="6451851" y="2281574"/>
                </a:lnTo>
                <a:cubicBezTo>
                  <a:pt x="6451851" y="2319648"/>
                  <a:pt x="6420986" y="2350514"/>
                  <a:pt x="6382911" y="2350514"/>
                </a:cubicBezTo>
                <a:lnTo>
                  <a:pt x="68941" y="2350514"/>
                </a:lnTo>
                <a:cubicBezTo>
                  <a:pt x="30866" y="2350514"/>
                  <a:pt x="0" y="2319648"/>
                  <a:pt x="0" y="2281574"/>
                </a:cubicBezTo>
                <a:lnTo>
                  <a:pt x="0" y="68941"/>
                </a:lnTo>
                <a:cubicBezTo>
                  <a:pt x="0" y="30866"/>
                  <a:pt x="30866" y="0"/>
                  <a:pt x="6894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8621" y="2116157"/>
            <a:ext cx="6229552" cy="206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"timestamp"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"2026-02-06T10:30:45.123Z"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"level"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"INFO"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"request_id"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"abc123-def456"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"user_id"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123456789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"command"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"/weather"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"action"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"fetch_weather"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"outcome"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"success"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"duration_ms"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245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"parameters"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{</a:t>
            </a: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"city"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950" dirty="0">
                <a:solidFill>
                  <a:srgbClr val="FF9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"London"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"stack_trace"</a:t>
            </a: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null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650" y="6296760"/>
            <a:ext cx="6813734" cy="489403"/>
          </a:xfrm>
          <a:custGeom>
            <a:avLst/>
            <a:gdLst/>
            <a:ahLst/>
            <a:cxnLst/>
            <a:rect l="l" t="t" r="r" b="b"/>
            <a:pathLst>
              <a:path w="6813734" h="489403">
                <a:moveTo>
                  <a:pt x="68932" y="0"/>
                </a:moveTo>
                <a:lnTo>
                  <a:pt x="6744802" y="0"/>
                </a:lnTo>
                <a:cubicBezTo>
                  <a:pt x="6782872" y="0"/>
                  <a:pt x="6813734" y="30862"/>
                  <a:pt x="6813734" y="68932"/>
                </a:cubicBezTo>
                <a:lnTo>
                  <a:pt x="6813734" y="420471"/>
                </a:lnTo>
                <a:cubicBezTo>
                  <a:pt x="6813734" y="458541"/>
                  <a:pt x="6782872" y="489403"/>
                  <a:pt x="6744802" y="489403"/>
                </a:cubicBezTo>
                <a:lnTo>
                  <a:pt x="68932" y="489403"/>
                </a:lnTo>
                <a:cubicBezTo>
                  <a:pt x="30888" y="489403"/>
                  <a:pt x="0" y="458516"/>
                  <a:pt x="0" y="420471"/>
                </a:cubicBezTo>
                <a:lnTo>
                  <a:pt x="0" y="68932"/>
                </a:lnTo>
                <a:cubicBezTo>
                  <a:pt x="0" y="30888"/>
                  <a:pt x="30888" y="0"/>
                  <a:pt x="6893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10944" y="6524230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86163" y="45774"/>
                </a:moveTo>
                <a:cubicBezTo>
                  <a:pt x="90639" y="45774"/>
                  <a:pt x="94240" y="49375"/>
                  <a:pt x="94240" y="53852"/>
                </a:cubicBezTo>
                <a:lnTo>
                  <a:pt x="94240" y="91548"/>
                </a:lnTo>
                <a:cubicBezTo>
                  <a:pt x="94240" y="96024"/>
                  <a:pt x="90639" y="99625"/>
                  <a:pt x="86163" y="99625"/>
                </a:cubicBezTo>
                <a:cubicBezTo>
                  <a:pt x="81686" y="99625"/>
                  <a:pt x="78085" y="96024"/>
                  <a:pt x="78085" y="91548"/>
                </a:cubicBezTo>
                <a:lnTo>
                  <a:pt x="78085" y="53852"/>
                </a:lnTo>
                <a:cubicBezTo>
                  <a:pt x="78085" y="49375"/>
                  <a:pt x="81686" y="45774"/>
                  <a:pt x="86163" y="45774"/>
                </a:cubicBezTo>
                <a:close/>
                <a:moveTo>
                  <a:pt x="77176" y="118473"/>
                </a:moveTo>
                <a:cubicBezTo>
                  <a:pt x="76972" y="115138"/>
                  <a:pt x="78635" y="111964"/>
                  <a:pt x="81495" y="110235"/>
                </a:cubicBezTo>
                <a:cubicBezTo>
                  <a:pt x="84354" y="108505"/>
                  <a:pt x="87937" y="108505"/>
                  <a:pt x="90797" y="110235"/>
                </a:cubicBezTo>
                <a:cubicBezTo>
                  <a:pt x="93656" y="111964"/>
                  <a:pt x="95320" y="115138"/>
                  <a:pt x="95115" y="118473"/>
                </a:cubicBezTo>
                <a:cubicBezTo>
                  <a:pt x="95320" y="121809"/>
                  <a:pt x="93656" y="124983"/>
                  <a:pt x="90797" y="126712"/>
                </a:cubicBezTo>
                <a:cubicBezTo>
                  <a:pt x="87937" y="128442"/>
                  <a:pt x="84354" y="128442"/>
                  <a:pt x="81495" y="126712"/>
                </a:cubicBezTo>
                <a:cubicBezTo>
                  <a:pt x="78635" y="124983"/>
                  <a:pt x="76972" y="121809"/>
                  <a:pt x="77176" y="118473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8205" y="6506997"/>
            <a:ext cx="376530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logs include full stack traces for rapid root cause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74221" y="1416512"/>
            <a:ext cx="4470113" cy="4633822"/>
          </a:xfrm>
          <a:custGeom>
            <a:avLst/>
            <a:gdLst/>
            <a:ahLst/>
            <a:cxnLst/>
            <a:rect l="l" t="t" r="r" b="b"/>
            <a:pathLst>
              <a:path w="4470113" h="4633822">
                <a:moveTo>
                  <a:pt x="68929" y="0"/>
                </a:moveTo>
                <a:lnTo>
                  <a:pt x="4401184" y="0"/>
                </a:lnTo>
                <a:cubicBezTo>
                  <a:pt x="4439252" y="0"/>
                  <a:pt x="4470113" y="30861"/>
                  <a:pt x="4470113" y="68929"/>
                </a:cubicBezTo>
                <a:lnTo>
                  <a:pt x="4470113" y="4564892"/>
                </a:lnTo>
                <a:cubicBezTo>
                  <a:pt x="4470113" y="4602961"/>
                  <a:pt x="4439252" y="4633822"/>
                  <a:pt x="4401184" y="4633822"/>
                </a:cubicBezTo>
                <a:lnTo>
                  <a:pt x="68929" y="4633822"/>
                </a:lnTo>
                <a:cubicBezTo>
                  <a:pt x="30861" y="4633822"/>
                  <a:pt x="0" y="4602961"/>
                  <a:pt x="0" y="4564892"/>
                </a:cubicBezTo>
                <a:lnTo>
                  <a:pt x="0" y="68929"/>
                </a:lnTo>
                <a:cubicBezTo>
                  <a:pt x="0" y="30886"/>
                  <a:pt x="30886" y="0"/>
                  <a:pt x="68929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49993" y="1592282"/>
            <a:ext cx="4204732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Logged Fields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53439" y="1974844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60281" y="2081692"/>
            <a:ext cx="70653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10435" y="2098925"/>
            <a:ext cx="904707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8601 format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53439" y="2471145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60281" y="2577985"/>
            <a:ext cx="35326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31386" y="2577985"/>
            <a:ext cx="723765" cy="206790"/>
          </a:xfrm>
          <a:custGeom>
            <a:avLst/>
            <a:gdLst/>
            <a:ahLst/>
            <a:cxnLst/>
            <a:rect l="l" t="t" r="r" b="b"/>
            <a:pathLst>
              <a:path w="723765" h="206790">
                <a:moveTo>
                  <a:pt x="34466" y="0"/>
                </a:moveTo>
                <a:lnTo>
                  <a:pt x="689300" y="0"/>
                </a:lnTo>
                <a:cubicBezTo>
                  <a:pt x="708335" y="0"/>
                  <a:pt x="723765" y="15431"/>
                  <a:pt x="723765" y="34466"/>
                </a:cubicBezTo>
                <a:lnTo>
                  <a:pt x="723765" y="172324"/>
                </a:lnTo>
                <a:cubicBezTo>
                  <a:pt x="723765" y="191359"/>
                  <a:pt x="708335" y="206790"/>
                  <a:pt x="689300" y="206790"/>
                </a:cubicBezTo>
                <a:lnTo>
                  <a:pt x="34466" y="206790"/>
                </a:lnTo>
                <a:cubicBezTo>
                  <a:pt x="15431" y="206790"/>
                  <a:pt x="0" y="191359"/>
                  <a:pt x="0" y="172324"/>
                </a:cubicBezTo>
                <a:lnTo>
                  <a:pt x="0" y="34466"/>
                </a:lnTo>
                <a:cubicBezTo>
                  <a:pt x="0" y="15444"/>
                  <a:pt x="15444" y="0"/>
                  <a:pt x="34466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831386" y="2577985"/>
            <a:ext cx="775463" cy="206790"/>
          </a:xfrm>
          <a:prstGeom prst="rect">
            <a:avLst/>
          </a:prstGeom>
          <a:noFill/>
          <a:ln/>
        </p:spPr>
        <p:txBody>
          <a:bodyPr wrap="square" lIns="68930" tIns="34465" rIns="68930" bIns="34465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INFO/ERROR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53439" y="2967438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60281" y="3074278"/>
            <a:ext cx="69791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request_id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75216" y="3091510"/>
            <a:ext cx="947788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 correlation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53439" y="3463739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60281" y="3570579"/>
            <a:ext cx="49974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user_id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93423" y="3587812"/>
            <a:ext cx="72376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context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53439" y="3960032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60281" y="4066872"/>
            <a:ext cx="67206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25785" y="4084105"/>
            <a:ext cx="79269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command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3439" y="4456325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60281" y="4563173"/>
            <a:ext cx="43081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13831" y="4580406"/>
            <a:ext cx="80131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53439" y="4952626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60281" y="5059466"/>
            <a:ext cx="6031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96654" y="5059466"/>
            <a:ext cx="663452" cy="206790"/>
          </a:xfrm>
          <a:custGeom>
            <a:avLst/>
            <a:gdLst/>
            <a:ahLst/>
            <a:cxnLst/>
            <a:rect l="l" t="t" r="r" b="b"/>
            <a:pathLst>
              <a:path w="663452" h="206790">
                <a:moveTo>
                  <a:pt x="34466" y="0"/>
                </a:moveTo>
                <a:lnTo>
                  <a:pt x="628986" y="0"/>
                </a:lnTo>
                <a:cubicBezTo>
                  <a:pt x="648021" y="0"/>
                  <a:pt x="663452" y="15431"/>
                  <a:pt x="663452" y="34466"/>
                </a:cubicBezTo>
                <a:lnTo>
                  <a:pt x="663452" y="172324"/>
                </a:lnTo>
                <a:cubicBezTo>
                  <a:pt x="663452" y="191359"/>
                  <a:pt x="648021" y="206790"/>
                  <a:pt x="628986" y="206790"/>
                </a:cubicBezTo>
                <a:lnTo>
                  <a:pt x="34466" y="206790"/>
                </a:lnTo>
                <a:cubicBezTo>
                  <a:pt x="15431" y="206790"/>
                  <a:pt x="0" y="191359"/>
                  <a:pt x="0" y="172324"/>
                </a:cubicBezTo>
                <a:lnTo>
                  <a:pt x="0" y="34466"/>
                </a:lnTo>
                <a:cubicBezTo>
                  <a:pt x="0" y="15444"/>
                  <a:pt x="15444" y="0"/>
                  <a:pt x="34466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896654" y="5059466"/>
            <a:ext cx="715149" cy="206790"/>
          </a:xfrm>
          <a:prstGeom prst="rect">
            <a:avLst/>
          </a:prstGeom>
          <a:noFill/>
          <a:ln/>
        </p:spPr>
        <p:txBody>
          <a:bodyPr wrap="square" lIns="68930" tIns="34465" rIns="68930" bIns="34465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success/fail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53439" y="5448919"/>
            <a:ext cx="4108230" cy="420473"/>
          </a:xfrm>
          <a:custGeom>
            <a:avLst/>
            <a:gdLst/>
            <a:ahLst/>
            <a:cxnLst/>
            <a:rect l="l" t="t" r="r" b="b"/>
            <a:pathLst>
              <a:path w="4108230" h="420473">
                <a:moveTo>
                  <a:pt x="68928" y="0"/>
                </a:moveTo>
                <a:lnTo>
                  <a:pt x="4039302" y="0"/>
                </a:lnTo>
                <a:cubicBezTo>
                  <a:pt x="4077370" y="0"/>
                  <a:pt x="4108230" y="30860"/>
                  <a:pt x="4108230" y="68928"/>
                </a:cubicBezTo>
                <a:lnTo>
                  <a:pt x="4108230" y="351545"/>
                </a:lnTo>
                <a:cubicBezTo>
                  <a:pt x="4108230" y="389613"/>
                  <a:pt x="4077370" y="420473"/>
                  <a:pt x="4039302" y="420473"/>
                </a:cubicBezTo>
                <a:lnTo>
                  <a:pt x="68928" y="420473"/>
                </a:lnTo>
                <a:cubicBezTo>
                  <a:pt x="30860" y="420473"/>
                  <a:pt x="0" y="389613"/>
                  <a:pt x="0" y="351545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60281" y="5555759"/>
            <a:ext cx="74099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stack_trace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30473" y="5572992"/>
            <a:ext cx="6893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details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61510" y="6157174"/>
            <a:ext cx="4470113" cy="661728"/>
          </a:xfrm>
          <a:custGeom>
            <a:avLst/>
            <a:gdLst/>
            <a:ahLst/>
            <a:cxnLst/>
            <a:rect l="l" t="t" r="r" b="b"/>
            <a:pathLst>
              <a:path w="4470113" h="661728">
                <a:moveTo>
                  <a:pt x="68932" y="0"/>
                </a:moveTo>
                <a:lnTo>
                  <a:pt x="4401181" y="0"/>
                </a:lnTo>
                <a:cubicBezTo>
                  <a:pt x="4439251" y="0"/>
                  <a:pt x="4470113" y="30862"/>
                  <a:pt x="4470113" y="68932"/>
                </a:cubicBezTo>
                <a:lnTo>
                  <a:pt x="4470113" y="592796"/>
                </a:lnTo>
                <a:cubicBezTo>
                  <a:pt x="4470113" y="630866"/>
                  <a:pt x="4439251" y="661728"/>
                  <a:pt x="4401181" y="661728"/>
                </a:cubicBezTo>
                <a:lnTo>
                  <a:pt x="68932" y="661728"/>
                </a:lnTo>
                <a:cubicBezTo>
                  <a:pt x="30862" y="661728"/>
                  <a:pt x="0" y="630866"/>
                  <a:pt x="0" y="592796"/>
                </a:cubicBezTo>
                <a:lnTo>
                  <a:pt x="0" y="68932"/>
                </a:lnTo>
                <a:cubicBezTo>
                  <a:pt x="0" y="30862"/>
                  <a:pt x="30862" y="0"/>
                  <a:pt x="6893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537069" y="6438067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86163" y="172325"/>
                </a:moveTo>
                <a:cubicBezTo>
                  <a:pt x="133717" y="172325"/>
                  <a:pt x="172325" y="133717"/>
                  <a:pt x="172325" y="86163"/>
                </a:cubicBezTo>
                <a:cubicBezTo>
                  <a:pt x="172325" y="38608"/>
                  <a:pt x="133717" y="0"/>
                  <a:pt x="86163" y="0"/>
                </a:cubicBezTo>
                <a:cubicBezTo>
                  <a:pt x="38608" y="0"/>
                  <a:pt x="0" y="38608"/>
                  <a:pt x="0" y="86163"/>
                </a:cubicBezTo>
                <a:cubicBezTo>
                  <a:pt x="0" y="133717"/>
                  <a:pt x="38608" y="172325"/>
                  <a:pt x="86163" y="172325"/>
                </a:cubicBezTo>
                <a:close/>
                <a:moveTo>
                  <a:pt x="114569" y="71589"/>
                </a:moveTo>
                <a:lnTo>
                  <a:pt x="87643" y="114670"/>
                </a:lnTo>
                <a:cubicBezTo>
                  <a:pt x="86230" y="116925"/>
                  <a:pt x="83807" y="118339"/>
                  <a:pt x="81148" y="118473"/>
                </a:cubicBezTo>
                <a:cubicBezTo>
                  <a:pt x="78489" y="118608"/>
                  <a:pt x="75931" y="117396"/>
                  <a:pt x="74349" y="115242"/>
                </a:cubicBezTo>
                <a:lnTo>
                  <a:pt x="58193" y="93702"/>
                </a:lnTo>
                <a:cubicBezTo>
                  <a:pt x="55501" y="90134"/>
                  <a:pt x="56241" y="85086"/>
                  <a:pt x="59809" y="82393"/>
                </a:cubicBezTo>
                <a:cubicBezTo>
                  <a:pt x="63377" y="79700"/>
                  <a:pt x="68425" y="80441"/>
                  <a:pt x="71118" y="84008"/>
                </a:cubicBezTo>
                <a:lnTo>
                  <a:pt x="80205" y="96125"/>
                </a:lnTo>
                <a:lnTo>
                  <a:pt x="100871" y="63040"/>
                </a:lnTo>
                <a:cubicBezTo>
                  <a:pt x="103227" y="59270"/>
                  <a:pt x="108208" y="58092"/>
                  <a:pt x="112011" y="60482"/>
                </a:cubicBezTo>
                <a:cubicBezTo>
                  <a:pt x="115815" y="62872"/>
                  <a:pt x="116959" y="67819"/>
                  <a:pt x="114569" y="7162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834329" y="6334672"/>
            <a:ext cx="219714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34329" y="6541462"/>
            <a:ext cx="21885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Debuggable, queryable, and monitorable</a:t>
            </a:r>
            <a:endParaRPr 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B60CBB-9423-88C2-C218-835909EA5C66}"/>
              </a:ext>
            </a:extLst>
          </p:cNvPr>
          <p:cNvSpPr txBox="1"/>
          <p:nvPr/>
        </p:nvSpPr>
        <p:spPr>
          <a:xfrm>
            <a:off x="11831623" y="6541462"/>
            <a:ext cx="450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16</a:t>
            </a:r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ABE1939-BA5F-4FF9-B5FC-54B7649D5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&amp; ALERTING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Log Management &amp; Error Monitoring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4512945"/>
          </a:xfrm>
          <a:custGeom>
            <a:avLst/>
            <a:gdLst/>
            <a:ahLst/>
            <a:cxnLst/>
            <a:rect l="l" t="t" r="r" b="b"/>
            <a:pathLst>
              <a:path w="5589270" h="4512945">
                <a:moveTo>
                  <a:pt x="76179" y="0"/>
                </a:moveTo>
                <a:lnTo>
                  <a:pt x="5513091" y="0"/>
                </a:lnTo>
                <a:cubicBezTo>
                  <a:pt x="5555164" y="0"/>
                  <a:pt x="5589270" y="34106"/>
                  <a:pt x="5589270" y="76179"/>
                </a:cubicBezTo>
                <a:lnTo>
                  <a:pt x="5589270" y="4436766"/>
                </a:lnTo>
                <a:cubicBezTo>
                  <a:pt x="5589270" y="4478839"/>
                  <a:pt x="5555164" y="4512945"/>
                  <a:pt x="5513091" y="4512945"/>
                </a:cubicBezTo>
                <a:lnTo>
                  <a:pt x="76179" y="4512945"/>
                </a:lnTo>
                <a:cubicBezTo>
                  <a:pt x="34106" y="4512945"/>
                  <a:pt x="0" y="4478839"/>
                  <a:pt x="0" y="4436766"/>
                </a:cubicBezTo>
                <a:lnTo>
                  <a:pt x="0" y="76179"/>
                </a:lnTo>
                <a:cubicBezTo>
                  <a:pt x="0" y="34134"/>
                  <a:pt x="34134" y="0"/>
                  <a:pt x="76179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72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60095" y="156971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8720" y="1531618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Log Groups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0650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3420" y="2141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33350"/>
                </a:move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42863"/>
                </a:lnTo>
                <a:cubicBezTo>
                  <a:pt x="152400" y="32355"/>
                  <a:pt x="143857" y="23813"/>
                  <a:pt x="133350" y="23813"/>
                </a:cubicBezTo>
                <a:lnTo>
                  <a:pt x="88910" y="23813"/>
                </a:lnTo>
                <a:cubicBezTo>
                  <a:pt x="86856" y="23813"/>
                  <a:pt x="84832" y="23158"/>
                  <a:pt x="83195" y="21908"/>
                </a:cubicBezTo>
                <a:lnTo>
                  <a:pt x="71765" y="13335"/>
                </a:lnTo>
                <a:cubicBezTo>
                  <a:pt x="68461" y="10864"/>
                  <a:pt x="64443" y="9525"/>
                  <a:pt x="60335" y="9525"/>
                </a:cubicBezTo>
                <a:lnTo>
                  <a:pt x="19050" y="9525"/>
                </a:ln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36320" y="2065018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Log Group per Lambda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2293618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/aws/lambda/telegram-bot-function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" y="26746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93420" y="27508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36320" y="2674618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Policy: 14 Days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6320" y="2903218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Cost-optimized log storage with sufficient history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" y="32842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3895" y="33604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36320" y="3284218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Managed by Terraform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6320" y="3512818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as Code for observability resources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5932174"/>
            <a:ext cx="5589270" cy="541020"/>
          </a:xfrm>
          <a:custGeom>
            <a:avLst/>
            <a:gdLst/>
            <a:ahLst/>
            <a:cxnLst/>
            <a:rect l="l" t="t" r="r" b="b"/>
            <a:pathLst>
              <a:path w="5589270" h="54102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464817"/>
                </a:lnTo>
                <a:cubicBezTo>
                  <a:pt x="5589270" y="506903"/>
                  <a:pt x="5555153" y="541020"/>
                  <a:pt x="55130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4832" y="6107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3445" y="6088382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CloudWatch resources defined in Terraform modules for consistency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4110" y="1223010"/>
            <a:ext cx="5589270" cy="4322445"/>
          </a:xfrm>
          <a:custGeom>
            <a:avLst/>
            <a:gdLst/>
            <a:ahLst/>
            <a:cxnLst/>
            <a:rect l="l" t="t" r="r" b="b"/>
            <a:pathLst>
              <a:path w="5589270" h="4322445">
                <a:moveTo>
                  <a:pt x="76205" y="0"/>
                </a:moveTo>
                <a:lnTo>
                  <a:pt x="5513065" y="0"/>
                </a:lnTo>
                <a:cubicBezTo>
                  <a:pt x="5555152" y="0"/>
                  <a:pt x="5589270" y="34118"/>
                  <a:pt x="5589270" y="76205"/>
                </a:cubicBezTo>
                <a:lnTo>
                  <a:pt x="5589270" y="4246240"/>
                </a:lnTo>
                <a:cubicBezTo>
                  <a:pt x="5589270" y="4288327"/>
                  <a:pt x="5555152" y="4322445"/>
                  <a:pt x="5513065" y="4322445"/>
                </a:cubicBezTo>
                <a:lnTo>
                  <a:pt x="76205" y="4322445"/>
                </a:lnTo>
                <a:cubicBezTo>
                  <a:pt x="34118" y="4322445"/>
                  <a:pt x="0" y="4288327"/>
                  <a:pt x="0" y="424624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465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75107" y="15697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18020" y="1531618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Monitoring &amp; Alerts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0330" y="2068828"/>
            <a:ext cx="5122545" cy="1303020"/>
          </a:xfrm>
          <a:custGeom>
            <a:avLst/>
            <a:gdLst/>
            <a:ahLst/>
            <a:cxnLst/>
            <a:rect l="l" t="t" r="r" b="b"/>
            <a:pathLst>
              <a:path w="5122545" h="13030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1226819"/>
                </a:lnTo>
                <a:cubicBezTo>
                  <a:pt x="5122545" y="1268904"/>
                  <a:pt x="5088429" y="1303020"/>
                  <a:pt x="5046344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30353" y="227267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6396" y="21431"/>
                  <a:pt x="2478" y="24043"/>
                  <a:pt x="804" y="28062"/>
                </a:cubicBezTo>
                <a:cubicBezTo>
                  <a:pt x="-871" y="32080"/>
                  <a:pt x="67" y="36668"/>
                  <a:pt x="3148" y="39715"/>
                </a:cubicBezTo>
                <a:lnTo>
                  <a:pt x="64294" y="100894"/>
                </a:lnTo>
                <a:lnTo>
                  <a:pt x="64294" y="139303"/>
                </a:lnTo>
                <a:cubicBezTo>
                  <a:pt x="64294" y="142149"/>
                  <a:pt x="65432" y="144862"/>
                  <a:pt x="67441" y="146871"/>
                </a:cubicBezTo>
                <a:lnTo>
                  <a:pt x="88873" y="168302"/>
                </a:lnTo>
                <a:cubicBezTo>
                  <a:pt x="91953" y="171383"/>
                  <a:pt x="96541" y="172287"/>
                  <a:pt x="100559" y="170613"/>
                </a:cubicBezTo>
                <a:cubicBezTo>
                  <a:pt x="104578" y="168939"/>
                  <a:pt x="107156" y="165054"/>
                  <a:pt x="107156" y="160734"/>
                </a:cubicBezTo>
                <a:lnTo>
                  <a:pt x="107156" y="100894"/>
                </a:lnTo>
                <a:lnTo>
                  <a:pt x="168302" y="39748"/>
                </a:lnTo>
                <a:cubicBezTo>
                  <a:pt x="171383" y="36668"/>
                  <a:pt x="172287" y="32080"/>
                  <a:pt x="170613" y="28062"/>
                </a:cubicBezTo>
                <a:cubicBezTo>
                  <a:pt x="168939" y="24043"/>
                  <a:pt x="165054" y="21431"/>
                  <a:pt x="160734" y="21431"/>
                </a:cubicBezTo>
                <a:lnTo>
                  <a:pt x="10716" y="21431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935153" y="2225046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 Filter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06540" y="2567946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log entries with level=ERROR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606540" y="2872746"/>
            <a:ext cx="4810125" cy="342900"/>
          </a:xfrm>
          <a:custGeom>
            <a:avLst/>
            <a:gdLst/>
            <a:ahLst/>
            <a:cxnLst/>
            <a:rect l="l" t="t" r="r" b="b"/>
            <a:pathLst>
              <a:path w="4810125" h="342900">
                <a:moveTo>
                  <a:pt x="38100" y="0"/>
                </a:moveTo>
                <a:lnTo>
                  <a:pt x="4772025" y="0"/>
                </a:lnTo>
                <a:cubicBezTo>
                  <a:pt x="4793067" y="0"/>
                  <a:pt x="4810125" y="17058"/>
                  <a:pt x="4810125" y="38100"/>
                </a:cubicBezTo>
                <a:lnTo>
                  <a:pt x="4810125" y="304800"/>
                </a:lnTo>
                <a:cubicBezTo>
                  <a:pt x="4810125" y="325842"/>
                  <a:pt x="4793067" y="342900"/>
                  <a:pt x="47720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326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06540" y="2872746"/>
            <a:ext cx="4876800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$.level = "ERROR" }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0330" y="3531874"/>
            <a:ext cx="5122545" cy="1226820"/>
          </a:xfrm>
          <a:custGeom>
            <a:avLst/>
            <a:gdLst/>
            <a:ahLst/>
            <a:cxnLst/>
            <a:rect l="l" t="t" r="r" b="b"/>
            <a:pathLst>
              <a:path w="5122545" h="1226820">
                <a:moveTo>
                  <a:pt x="76198" y="0"/>
                </a:moveTo>
                <a:lnTo>
                  <a:pt x="5046347" y="0"/>
                </a:lnTo>
                <a:cubicBezTo>
                  <a:pt x="5088430" y="0"/>
                  <a:pt x="5122545" y="34115"/>
                  <a:pt x="5122545" y="76198"/>
                </a:cubicBezTo>
                <a:lnTo>
                  <a:pt x="5122545" y="1150622"/>
                </a:lnTo>
                <a:cubicBezTo>
                  <a:pt x="5122545" y="1192705"/>
                  <a:pt x="5088430" y="1226820"/>
                  <a:pt x="5046347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00A3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630353" y="37357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905" y="44369"/>
                </a:moveTo>
                <a:cubicBezTo>
                  <a:pt x="167398" y="47885"/>
                  <a:pt x="162744" y="47651"/>
                  <a:pt x="160567" y="44503"/>
                </a:cubicBezTo>
                <a:cubicBezTo>
                  <a:pt x="151258" y="31109"/>
                  <a:pt x="138432" y="20326"/>
                  <a:pt x="123397" y="13495"/>
                </a:cubicBezTo>
                <a:cubicBezTo>
                  <a:pt x="119915" y="11921"/>
                  <a:pt x="118809" y="7367"/>
                  <a:pt x="122024" y="5257"/>
                </a:cubicBezTo>
                <a:cubicBezTo>
                  <a:pt x="127047" y="1942"/>
                  <a:pt x="133075" y="0"/>
                  <a:pt x="139538" y="0"/>
                </a:cubicBezTo>
                <a:cubicBezTo>
                  <a:pt x="157151" y="0"/>
                  <a:pt x="171417" y="14265"/>
                  <a:pt x="171417" y="31879"/>
                </a:cubicBezTo>
                <a:cubicBezTo>
                  <a:pt x="171417" y="36299"/>
                  <a:pt x="170512" y="40518"/>
                  <a:pt x="168872" y="44369"/>
                </a:cubicBezTo>
                <a:close/>
                <a:moveTo>
                  <a:pt x="10883" y="44503"/>
                </a:moveTo>
                <a:cubicBezTo>
                  <a:pt x="8706" y="47651"/>
                  <a:pt x="4018" y="47885"/>
                  <a:pt x="2545" y="44369"/>
                </a:cubicBezTo>
                <a:cubicBezTo>
                  <a:pt x="904" y="40518"/>
                  <a:pt x="0" y="36299"/>
                  <a:pt x="0" y="31879"/>
                </a:cubicBezTo>
                <a:cubicBezTo>
                  <a:pt x="0" y="14265"/>
                  <a:pt x="14265" y="0"/>
                  <a:pt x="31879" y="0"/>
                </a:cubicBezTo>
                <a:cubicBezTo>
                  <a:pt x="38342" y="0"/>
                  <a:pt x="44369" y="1942"/>
                  <a:pt x="49392" y="5257"/>
                </a:cubicBezTo>
                <a:cubicBezTo>
                  <a:pt x="52607" y="7367"/>
                  <a:pt x="51502" y="11921"/>
                  <a:pt x="48019" y="13495"/>
                </a:cubicBezTo>
                <a:cubicBezTo>
                  <a:pt x="33018" y="20326"/>
                  <a:pt x="20192" y="31109"/>
                  <a:pt x="10850" y="44503"/>
                </a:cubicBezTo>
                <a:close/>
                <a:moveTo>
                  <a:pt x="130664" y="156515"/>
                </a:moveTo>
                <a:cubicBezTo>
                  <a:pt x="118140" y="165891"/>
                  <a:pt x="102569" y="171450"/>
                  <a:pt x="85725" y="171450"/>
                </a:cubicBezTo>
                <a:cubicBezTo>
                  <a:pt x="68881" y="171450"/>
                  <a:pt x="53310" y="165891"/>
                  <a:pt x="40820" y="156515"/>
                </a:cubicBezTo>
                <a:lnTo>
                  <a:pt x="28999" y="168302"/>
                </a:lnTo>
                <a:cubicBezTo>
                  <a:pt x="24813" y="172488"/>
                  <a:pt x="18016" y="172488"/>
                  <a:pt x="13830" y="168302"/>
                </a:cubicBezTo>
                <a:cubicBezTo>
                  <a:pt x="9644" y="164116"/>
                  <a:pt x="9644" y="157319"/>
                  <a:pt x="13830" y="153133"/>
                </a:cubicBezTo>
                <a:lnTo>
                  <a:pt x="25617" y="141346"/>
                </a:lnTo>
                <a:cubicBezTo>
                  <a:pt x="16274" y="128855"/>
                  <a:pt x="10716" y="113284"/>
                  <a:pt x="10716" y="96441"/>
                </a:cubicBezTo>
                <a:cubicBezTo>
                  <a:pt x="10716" y="55018"/>
                  <a:pt x="44302" y="21431"/>
                  <a:pt x="85725" y="21431"/>
                </a:cubicBezTo>
                <a:cubicBezTo>
                  <a:pt x="127148" y="21431"/>
                  <a:pt x="160734" y="55018"/>
                  <a:pt x="160734" y="96441"/>
                </a:cubicBezTo>
                <a:cubicBezTo>
                  <a:pt x="160734" y="113284"/>
                  <a:pt x="155176" y="128855"/>
                  <a:pt x="145799" y="141379"/>
                </a:cubicBezTo>
                <a:lnTo>
                  <a:pt x="157587" y="153166"/>
                </a:lnTo>
                <a:cubicBezTo>
                  <a:pt x="161772" y="157352"/>
                  <a:pt x="161772" y="164150"/>
                  <a:pt x="157587" y="168336"/>
                </a:cubicBezTo>
                <a:cubicBezTo>
                  <a:pt x="153401" y="172522"/>
                  <a:pt x="146603" y="172522"/>
                  <a:pt x="142417" y="168336"/>
                </a:cubicBezTo>
                <a:lnTo>
                  <a:pt x="130630" y="156549"/>
                </a:lnTo>
                <a:close/>
                <a:moveTo>
                  <a:pt x="93762" y="61615"/>
                </a:moveTo>
                <a:cubicBezTo>
                  <a:pt x="93762" y="57161"/>
                  <a:pt x="90179" y="53578"/>
                  <a:pt x="85725" y="53578"/>
                </a:cubicBezTo>
                <a:cubicBezTo>
                  <a:pt x="81271" y="53578"/>
                  <a:pt x="77688" y="57161"/>
                  <a:pt x="77688" y="61615"/>
                </a:cubicBezTo>
                <a:lnTo>
                  <a:pt x="77688" y="96441"/>
                </a:lnTo>
                <a:cubicBezTo>
                  <a:pt x="77688" y="98584"/>
                  <a:pt x="78525" y="100626"/>
                  <a:pt x="80032" y="102133"/>
                </a:cubicBezTo>
                <a:lnTo>
                  <a:pt x="98785" y="120886"/>
                </a:lnTo>
                <a:cubicBezTo>
                  <a:pt x="101932" y="124033"/>
                  <a:pt x="107022" y="124033"/>
                  <a:pt x="110137" y="120886"/>
                </a:cubicBezTo>
                <a:cubicBezTo>
                  <a:pt x="113251" y="117738"/>
                  <a:pt x="113284" y="112648"/>
                  <a:pt x="110137" y="109534"/>
                </a:cubicBezTo>
                <a:lnTo>
                  <a:pt x="93728" y="93125"/>
                </a:lnTo>
                <a:lnTo>
                  <a:pt x="93728" y="61615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35153" y="3688082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Alarm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06540" y="4030982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Triggers when ≥1 error in 5 minutes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06540" y="4335782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38101" y="0"/>
                </a:moveTo>
                <a:lnTo>
                  <a:pt x="876299" y="0"/>
                </a:lnTo>
                <a:cubicBezTo>
                  <a:pt x="897342" y="0"/>
                  <a:pt x="914400" y="17058"/>
                  <a:pt x="914400" y="38101"/>
                </a:cubicBezTo>
                <a:lnTo>
                  <a:pt x="914400" y="228599"/>
                </a:lnTo>
                <a:cubicBezTo>
                  <a:pt x="914400" y="249642"/>
                  <a:pt x="897342" y="266700"/>
                  <a:pt x="8762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06540" y="4335782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Threshold: 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93568" y="4335782"/>
            <a:ext cx="981075" cy="266700"/>
          </a:xfrm>
          <a:custGeom>
            <a:avLst/>
            <a:gdLst/>
            <a:ahLst/>
            <a:cxnLst/>
            <a:rect l="l" t="t" r="r" b="b"/>
            <a:pathLst>
              <a:path w="981075" h="266700">
                <a:moveTo>
                  <a:pt x="38101" y="0"/>
                </a:moveTo>
                <a:lnTo>
                  <a:pt x="942974" y="0"/>
                </a:lnTo>
                <a:cubicBezTo>
                  <a:pt x="964017" y="0"/>
                  <a:pt x="981075" y="17058"/>
                  <a:pt x="981075" y="38101"/>
                </a:cubicBezTo>
                <a:lnTo>
                  <a:pt x="981075" y="228599"/>
                </a:lnTo>
                <a:cubicBezTo>
                  <a:pt x="981075" y="249642"/>
                  <a:pt x="964017" y="266700"/>
                  <a:pt x="9429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593568" y="4335782"/>
            <a:ext cx="1047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Period: 5 min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4110" y="5741674"/>
            <a:ext cx="5589270" cy="731520"/>
          </a:xfrm>
          <a:custGeom>
            <a:avLst/>
            <a:gdLst/>
            <a:ahLst/>
            <a:cxnLst/>
            <a:rect l="l" t="t" r="r" b="b"/>
            <a:pathLst>
              <a:path w="5589270" h="731520">
                <a:moveTo>
                  <a:pt x="76202" y="0"/>
                </a:moveTo>
                <a:lnTo>
                  <a:pt x="5513068" y="0"/>
                </a:lnTo>
                <a:cubicBezTo>
                  <a:pt x="5555153" y="0"/>
                  <a:pt x="5589270" y="34117"/>
                  <a:pt x="5589270" y="76202"/>
                </a:cubicBezTo>
                <a:lnTo>
                  <a:pt x="5589270" y="655318"/>
                </a:lnTo>
                <a:cubicBezTo>
                  <a:pt x="5589270" y="697403"/>
                  <a:pt x="5555153" y="731520"/>
                  <a:pt x="551306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394132" y="60121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22745" y="5897882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Observability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22745" y="6126482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failure detection with actionable alerts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24F1EB-BD41-31DE-AB21-6EFF4C6EACD3}"/>
              </a:ext>
            </a:extLst>
          </p:cNvPr>
          <p:cNvSpPr txBox="1"/>
          <p:nvPr/>
        </p:nvSpPr>
        <p:spPr>
          <a:xfrm>
            <a:off x="11832305" y="6488668"/>
            <a:ext cx="422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17</a:t>
            </a:r>
            <a:endParaRPr lang="en-IN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5448C20-E0D0-894F-8C40-40E25FAE3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whizlabs.com/b433b66e3314630ccf88b628a882456af35b8237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5099" r="50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FF990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00305" y="2020254"/>
            <a:ext cx="1588770" cy="502920"/>
          </a:xfrm>
          <a:custGeom>
            <a:avLst/>
            <a:gdLst/>
            <a:ahLst/>
            <a:cxnLst/>
            <a:rect l="l" t="t" r="r" b="b"/>
            <a:pathLst>
              <a:path w="1588770" h="502920">
                <a:moveTo>
                  <a:pt x="251460" y="0"/>
                </a:moveTo>
                <a:lnTo>
                  <a:pt x="1337310" y="0"/>
                </a:lnTo>
                <a:cubicBezTo>
                  <a:pt x="1476095" y="0"/>
                  <a:pt x="1588770" y="112675"/>
                  <a:pt x="1588770" y="251460"/>
                </a:cubicBezTo>
                <a:lnTo>
                  <a:pt x="1588770" y="251460"/>
                </a:lnTo>
                <a:cubicBezTo>
                  <a:pt x="1588770" y="390245"/>
                  <a:pt x="1476095" y="502920"/>
                  <a:pt x="13373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5090" y="2161226"/>
            <a:ext cx="12217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12620" y="2831781"/>
            <a:ext cx="8362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Migration &amp; Best Practices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15270" y="3746181"/>
            <a:ext cx="5962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LocalStack to AWS migration and continuous improvement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84652" y="45939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213265" y="4574856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88518" y="45939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17131" y="4574856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28961" y="459390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271861" y="4574856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05B8E-323A-85F9-5145-9C87BC3032DA}"/>
              </a:ext>
            </a:extLst>
          </p:cNvPr>
          <p:cNvSpPr txBox="1"/>
          <p:nvPr/>
        </p:nvSpPr>
        <p:spPr>
          <a:xfrm>
            <a:off x="11760460" y="6485949"/>
            <a:ext cx="43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18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C90B8B-7063-DA1F-9F72-089DC626A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MIGRATION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LocalStack → Real AWS Migration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Proving Infrastructure as Code value through environment portability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5589270" cy="4903470"/>
          </a:xfrm>
          <a:custGeom>
            <a:avLst/>
            <a:gdLst/>
            <a:ahLst/>
            <a:cxnLst/>
            <a:rect l="l" t="t" r="r" b="b"/>
            <a:pathLst>
              <a:path w="5589270" h="4903470">
                <a:moveTo>
                  <a:pt x="76200" y="0"/>
                </a:moveTo>
                <a:lnTo>
                  <a:pt x="5513070" y="0"/>
                </a:lnTo>
                <a:cubicBezTo>
                  <a:pt x="5555154" y="0"/>
                  <a:pt x="5589270" y="34116"/>
                  <a:pt x="5589270" y="76200"/>
                </a:cubicBezTo>
                <a:lnTo>
                  <a:pt x="5589270" y="4827270"/>
                </a:lnTo>
                <a:cubicBezTo>
                  <a:pt x="5589270" y="4869354"/>
                  <a:pt x="5555154" y="4903470"/>
                  <a:pt x="5513070" y="4903470"/>
                </a:cubicBezTo>
                <a:lnTo>
                  <a:pt x="76200" y="4903470"/>
                </a:lnTo>
                <a:cubicBezTo>
                  <a:pt x="34116" y="4903470"/>
                  <a:pt x="0" y="4869354"/>
                  <a:pt x="0" y="48272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7220" y="1798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912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1874518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2407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12470" y="248411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36320" y="2407918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LocalStack Endpoints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6320" y="2636518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more localhost:4566 service URLs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" y="29794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3895" y="30556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36320" y="2979418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AWS Provider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6320" y="3208018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 "aws" with real region and credentials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" y="3550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3420" y="36271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36320" y="3550918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IAM Role (LabRole)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6320" y="3779518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AWS IAM role with proper permissions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" y="41224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93420" y="41986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6320" y="4122418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API Gateway Webhook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6320" y="4351018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HTTPS endpoint for Telegram integration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110" y="1565910"/>
            <a:ext cx="5589270" cy="3198495"/>
          </a:xfrm>
          <a:custGeom>
            <a:avLst/>
            <a:gdLst/>
            <a:ahLst/>
            <a:cxnLst/>
            <a:rect l="l" t="t" r="r" b="b"/>
            <a:pathLst>
              <a:path w="5589270" h="3198495">
                <a:moveTo>
                  <a:pt x="76188" y="0"/>
                </a:moveTo>
                <a:lnTo>
                  <a:pt x="5513082" y="0"/>
                </a:lnTo>
                <a:cubicBezTo>
                  <a:pt x="5555159" y="0"/>
                  <a:pt x="5589270" y="34111"/>
                  <a:pt x="5589270" y="76188"/>
                </a:cubicBezTo>
                <a:lnTo>
                  <a:pt x="5589270" y="3122307"/>
                </a:lnTo>
                <a:cubicBezTo>
                  <a:pt x="5589270" y="3164384"/>
                  <a:pt x="5555159" y="3198495"/>
                  <a:pt x="5513082" y="3198495"/>
                </a:cubicBezTo>
                <a:lnTo>
                  <a:pt x="76188" y="3198495"/>
                </a:lnTo>
                <a:cubicBezTo>
                  <a:pt x="34139" y="3198495"/>
                  <a:pt x="0" y="3164356"/>
                  <a:pt x="0" y="312230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46520" y="1798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75107" y="19126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57150"/>
                </a:move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4288" y="57150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8" y="142875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18020" y="1874518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Stayed Same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2407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32245" y="24841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65620" y="2407918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Terraform Code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5620" y="2636518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definitions unchanged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6520" y="29794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532245" y="30556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65620" y="2979418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Lambda Logic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5620" y="3208018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bot code required no modifications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4110" y="4960624"/>
            <a:ext cx="5589270" cy="1512570"/>
          </a:xfrm>
          <a:custGeom>
            <a:avLst/>
            <a:gdLst/>
            <a:ahLst/>
            <a:cxnLst/>
            <a:rect l="l" t="t" r="r" b="b"/>
            <a:pathLst>
              <a:path w="5589270" h="151257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1436367"/>
                </a:lnTo>
                <a:cubicBezTo>
                  <a:pt x="5589270" y="1478453"/>
                  <a:pt x="5555153" y="1512570"/>
                  <a:pt x="5513067" y="1512570"/>
                </a:cubicBezTo>
                <a:lnTo>
                  <a:pt x="76203" y="1512570"/>
                </a:lnTo>
                <a:cubicBezTo>
                  <a:pt x="34117" y="1512570"/>
                  <a:pt x="0" y="1478453"/>
                  <a:pt x="0" y="14363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36995" y="51739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08470" y="5154932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Proof of IaC Value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8420" y="5535932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Environment-agnostic deployment strategy validated. Same codebase deploys to local emulation or production cloud with only provider configuration changes.</a:t>
            </a:r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50B039-54F5-E0A6-40B2-6CF6F4FC3BFD}"/>
              </a:ext>
            </a:extLst>
          </p:cNvPr>
          <p:cNvSpPr txBox="1"/>
          <p:nvPr/>
        </p:nvSpPr>
        <p:spPr>
          <a:xfrm>
            <a:off x="11803380" y="6473194"/>
            <a:ext cx="422210" cy="378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19</a:t>
            </a:r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F4289C7-C925-6D06-90EE-325AFB4A2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Analysis &amp; Refactoring Outcomes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vs After comparison across key areas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11418570" cy="3636645"/>
          </a:xfrm>
          <a:custGeom>
            <a:avLst/>
            <a:gdLst/>
            <a:ahLst/>
            <a:cxnLst/>
            <a:rect l="l" t="t" r="r" b="b"/>
            <a:pathLst>
              <a:path w="11418570" h="3636645">
                <a:moveTo>
                  <a:pt x="76188" y="0"/>
                </a:moveTo>
                <a:lnTo>
                  <a:pt x="11342382" y="0"/>
                </a:lnTo>
                <a:cubicBezTo>
                  <a:pt x="11384431" y="0"/>
                  <a:pt x="11418570" y="34139"/>
                  <a:pt x="11418570" y="76188"/>
                </a:cubicBezTo>
                <a:lnTo>
                  <a:pt x="11418570" y="3560457"/>
                </a:lnTo>
                <a:cubicBezTo>
                  <a:pt x="11418570" y="3602506"/>
                  <a:pt x="11384431" y="3636645"/>
                  <a:pt x="11342382" y="3636645"/>
                </a:cubicBezTo>
                <a:lnTo>
                  <a:pt x="76188" y="3636645"/>
                </a:lnTo>
                <a:cubicBezTo>
                  <a:pt x="34139" y="3636645"/>
                  <a:pt x="0" y="3602506"/>
                  <a:pt x="0" y="356045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" y="1569718"/>
          <a:ext cx="11410950" cy="3238500"/>
        </p:xfrm>
        <a:graphic>
          <a:graphicData uri="http://schemas.openxmlformats.org/drawingml/2006/table">
            <a:tbl>
              <a:tblPr/>
              <a:tblGrid>
                <a:gridCol w="263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9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Area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Before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00A3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After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Impact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Terraform Structure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Flat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Modular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Reusable components, easier maintenance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IAM Permissions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Broad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Least Privilege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Security hardening, compliance ready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Naming &amp; Tagging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Inconsistent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Standardized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Better resource management, cost tracking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 Management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Remote (S3)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Team collaboration, state locking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Outputs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Useful Endpoints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Inter-module dependencies, API URLs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4810" y="5360674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1036324"/>
                </a:lnTo>
                <a:cubicBezTo>
                  <a:pt x="3703320" y="1078406"/>
                  <a:pt x="3669206" y="1112520"/>
                  <a:pt x="36271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64832" y="55549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93445" y="5516882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585978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structure reduces complexity and enables parallel development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5531" y="5360674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1036324"/>
                </a:lnTo>
                <a:cubicBezTo>
                  <a:pt x="3703320" y="1078406"/>
                  <a:pt x="3669206" y="1112520"/>
                  <a:pt x="36271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25553" y="55549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166" y="5516882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01741" y="585978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 IAM reduces attack surface and meets compliance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6371" y="5360674"/>
            <a:ext cx="3703320" cy="1112520"/>
          </a:xfrm>
          <a:custGeom>
            <a:avLst/>
            <a:gdLst/>
            <a:ahLst/>
            <a:cxnLst/>
            <a:rect l="l" t="t" r="r" b="b"/>
            <a:pathLst>
              <a:path w="3703320" h="1112520">
                <a:moveTo>
                  <a:pt x="76196" y="0"/>
                </a:moveTo>
                <a:lnTo>
                  <a:pt x="3627124" y="0"/>
                </a:lnTo>
                <a:cubicBezTo>
                  <a:pt x="3669206" y="0"/>
                  <a:pt x="3703320" y="34114"/>
                  <a:pt x="3703320" y="76196"/>
                </a:cubicBezTo>
                <a:lnTo>
                  <a:pt x="3703320" y="1036324"/>
                </a:lnTo>
                <a:cubicBezTo>
                  <a:pt x="3703320" y="1078406"/>
                  <a:pt x="3669206" y="1112520"/>
                  <a:pt x="36271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262581" y="55549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615006" y="5516882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62581" y="585978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state enables team workflows with conflict prevention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2591A-5822-D015-6F53-CA3BFACCA119}"/>
              </a:ext>
            </a:extLst>
          </p:cNvPr>
          <p:cNvSpPr txBox="1"/>
          <p:nvPr/>
        </p:nvSpPr>
        <p:spPr>
          <a:xfrm>
            <a:off x="11752684" y="6446647"/>
            <a:ext cx="459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20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A2302-6127-F593-6560-F7B450D71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237796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16486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89606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system functionality showcase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1500" y="1301750"/>
            <a:ext cx="31750" cy="5580063"/>
          </a:xfrm>
          <a:custGeom>
            <a:avLst/>
            <a:gdLst/>
            <a:ahLst/>
            <a:cxnLst/>
            <a:rect l="l" t="t" r="r" b="b"/>
            <a:pathLst>
              <a:path w="31750" h="5580063">
                <a:moveTo>
                  <a:pt x="0" y="0"/>
                </a:moveTo>
                <a:lnTo>
                  <a:pt x="31750" y="0"/>
                </a:lnTo>
                <a:lnTo>
                  <a:pt x="31750" y="5580063"/>
                </a:lnTo>
                <a:lnTo>
                  <a:pt x="0" y="55800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0">
                <a:srgbClr val="FFFFFF"/>
              </a:gs>
              <a:gs pos="50000">
                <a:srgbClr val="00A3E0"/>
              </a:gs>
              <a:gs pos="100000">
                <a:srgbClr val="FF9900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5675" y="1304925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85850" y="143509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 apply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99776" y="1435098"/>
            <a:ext cx="841375" cy="222250"/>
          </a:xfrm>
          <a:custGeom>
            <a:avLst/>
            <a:gdLst/>
            <a:ahLst/>
            <a:cxnLst/>
            <a:rect l="l" t="t" r="r" b="b"/>
            <a:pathLst>
              <a:path w="841375" h="222250">
                <a:moveTo>
                  <a:pt x="111125" y="0"/>
                </a:moveTo>
                <a:lnTo>
                  <a:pt x="730250" y="0"/>
                </a:lnTo>
                <a:cubicBezTo>
                  <a:pt x="791582" y="0"/>
                  <a:pt x="841375" y="49793"/>
                  <a:pt x="841375" y="111125"/>
                </a:cubicBezTo>
                <a:lnTo>
                  <a:pt x="841375" y="111125"/>
                </a:lnTo>
                <a:cubicBezTo>
                  <a:pt x="841375" y="172457"/>
                  <a:pt x="791582" y="222250"/>
                  <a:pt x="730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899776" y="1435098"/>
            <a:ext cx="896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5850" y="1720848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complete serverless stack with single command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5675" y="2111380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85850" y="2241553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 Commands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56628" y="2241553"/>
            <a:ext cx="785813" cy="222250"/>
          </a:xfrm>
          <a:custGeom>
            <a:avLst/>
            <a:gdLst/>
            <a:ahLst/>
            <a:cxnLst/>
            <a:rect l="l" t="t" r="r" b="b"/>
            <a:pathLst>
              <a:path w="785813" h="222250">
                <a:moveTo>
                  <a:pt x="111125" y="0"/>
                </a:moveTo>
                <a:lnTo>
                  <a:pt x="674688" y="0"/>
                </a:lnTo>
                <a:cubicBezTo>
                  <a:pt x="736019" y="0"/>
                  <a:pt x="785813" y="49793"/>
                  <a:pt x="785813" y="111125"/>
                </a:cubicBezTo>
                <a:lnTo>
                  <a:pt x="785813" y="111125"/>
                </a:lnTo>
                <a:cubicBezTo>
                  <a:pt x="785813" y="172457"/>
                  <a:pt x="736019" y="222250"/>
                  <a:pt x="6746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56628" y="2241553"/>
            <a:ext cx="841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5850" y="2527303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/hello, /help, /echo demonstrating basic command handling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5675" y="2917827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85850" y="3048000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 &amp; Retrieve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00680" y="3048000"/>
            <a:ext cx="738188" cy="222250"/>
          </a:xfrm>
          <a:custGeom>
            <a:avLst/>
            <a:gdLst/>
            <a:ahLst/>
            <a:cxnLst/>
            <a:rect l="l" t="t" r="r" b="b"/>
            <a:pathLst>
              <a:path w="738188" h="222250">
                <a:moveTo>
                  <a:pt x="111125" y="0"/>
                </a:moveTo>
                <a:lnTo>
                  <a:pt x="627063" y="0"/>
                </a:lnTo>
                <a:cubicBezTo>
                  <a:pt x="688394" y="0"/>
                  <a:pt x="738188" y="49793"/>
                  <a:pt x="738188" y="111125"/>
                </a:cubicBezTo>
                <a:lnTo>
                  <a:pt x="738188" y="111125"/>
                </a:lnTo>
                <a:cubicBezTo>
                  <a:pt x="738188" y="172457"/>
                  <a:pt x="688394" y="222250"/>
                  <a:pt x="6270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000680" y="3048000"/>
            <a:ext cx="793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5850" y="3333750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/save and /get commands with DynamoDB persistence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5675" y="3724273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85850" y="3854455"/>
            <a:ext cx="865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File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35407" y="3854455"/>
            <a:ext cx="706438" cy="222250"/>
          </a:xfrm>
          <a:custGeom>
            <a:avLst/>
            <a:gdLst/>
            <a:ahLst/>
            <a:cxnLst/>
            <a:rect l="l" t="t" r="r" b="b"/>
            <a:pathLst>
              <a:path w="706438" h="222250">
                <a:moveTo>
                  <a:pt x="111125" y="0"/>
                </a:moveTo>
                <a:lnTo>
                  <a:pt x="595313" y="0"/>
                </a:lnTo>
                <a:cubicBezTo>
                  <a:pt x="656644" y="0"/>
                  <a:pt x="706438" y="49793"/>
                  <a:pt x="706438" y="111125"/>
                </a:cubicBezTo>
                <a:lnTo>
                  <a:pt x="706438" y="111125"/>
                </a:lnTo>
                <a:cubicBezTo>
                  <a:pt x="706438" y="172457"/>
                  <a:pt x="656644" y="222250"/>
                  <a:pt x="5953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1035407" y="3854455"/>
            <a:ext cx="762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Storage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5850" y="4140205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upload to S3 and list files command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5675" y="4530728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85850" y="4660902"/>
            <a:ext cx="141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Weather/News API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924183" y="4660902"/>
            <a:ext cx="817563" cy="222250"/>
          </a:xfrm>
          <a:custGeom>
            <a:avLst/>
            <a:gdLst/>
            <a:ahLst/>
            <a:cxnLst/>
            <a:rect l="l" t="t" r="r" b="b"/>
            <a:pathLst>
              <a:path w="817563" h="222250">
                <a:moveTo>
                  <a:pt x="111125" y="0"/>
                </a:moveTo>
                <a:lnTo>
                  <a:pt x="706438" y="0"/>
                </a:lnTo>
                <a:cubicBezTo>
                  <a:pt x="767769" y="0"/>
                  <a:pt x="817563" y="49793"/>
                  <a:pt x="817563" y="111125"/>
                </a:cubicBezTo>
                <a:lnTo>
                  <a:pt x="817563" y="111125"/>
                </a:lnTo>
                <a:cubicBezTo>
                  <a:pt x="817563" y="172457"/>
                  <a:pt x="767769" y="222250"/>
                  <a:pt x="7064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924183" y="4660902"/>
            <a:ext cx="873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" y="4946652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from Open-Meteo and GDELT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5675" y="5337175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85850" y="5467348"/>
            <a:ext cx="133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Logs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910292" y="5467348"/>
            <a:ext cx="833438" cy="222250"/>
          </a:xfrm>
          <a:custGeom>
            <a:avLst/>
            <a:gdLst/>
            <a:ahLst/>
            <a:cxnLst/>
            <a:rect l="l" t="t" r="r" b="b"/>
            <a:pathLst>
              <a:path w="833438" h="222250">
                <a:moveTo>
                  <a:pt x="111125" y="0"/>
                </a:moveTo>
                <a:lnTo>
                  <a:pt x="722313" y="0"/>
                </a:lnTo>
                <a:cubicBezTo>
                  <a:pt x="783644" y="0"/>
                  <a:pt x="833438" y="49793"/>
                  <a:pt x="833438" y="111125"/>
                </a:cubicBezTo>
                <a:lnTo>
                  <a:pt x="833438" y="111125"/>
                </a:lnTo>
                <a:cubicBezTo>
                  <a:pt x="833438" y="172457"/>
                  <a:pt x="783644" y="222250"/>
                  <a:pt x="7223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910292" y="5467348"/>
            <a:ext cx="889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85850" y="5753098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Inspect structured logs in CloudWatch console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5675" y="6143630"/>
            <a:ext cx="10912475" cy="736600"/>
          </a:xfrm>
          <a:custGeom>
            <a:avLst/>
            <a:gdLst/>
            <a:ahLst/>
            <a:cxnLst/>
            <a:rect l="l" t="t" r="r" b="b"/>
            <a:pathLst>
              <a:path w="10912475" h="736600">
                <a:moveTo>
                  <a:pt x="63502" y="0"/>
                </a:moveTo>
                <a:lnTo>
                  <a:pt x="10848973" y="0"/>
                </a:lnTo>
                <a:cubicBezTo>
                  <a:pt x="10884021" y="0"/>
                  <a:pt x="10912475" y="28454"/>
                  <a:pt x="10912475" y="63502"/>
                </a:cubicBezTo>
                <a:lnTo>
                  <a:pt x="10912475" y="673098"/>
                </a:lnTo>
                <a:cubicBezTo>
                  <a:pt x="10912475" y="708146"/>
                  <a:pt x="10884021" y="736600"/>
                  <a:pt x="10848973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85850" y="6273803"/>
            <a:ext cx="141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Alarm Trigger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29950" y="6273803"/>
            <a:ext cx="714375" cy="222250"/>
          </a:xfrm>
          <a:custGeom>
            <a:avLst/>
            <a:gdLst/>
            <a:ahLst/>
            <a:cxnLst/>
            <a:rect l="l" t="t" r="r" b="b"/>
            <a:pathLst>
              <a:path w="714375" h="222250">
                <a:moveTo>
                  <a:pt x="111125" y="0"/>
                </a:moveTo>
                <a:lnTo>
                  <a:pt x="603250" y="0"/>
                </a:lnTo>
                <a:cubicBezTo>
                  <a:pt x="664582" y="0"/>
                  <a:pt x="714375" y="49793"/>
                  <a:pt x="714375" y="111125"/>
                </a:cubicBezTo>
                <a:lnTo>
                  <a:pt x="714375" y="111125"/>
                </a:lnTo>
                <a:cubicBezTo>
                  <a:pt x="714375" y="172457"/>
                  <a:pt x="664582" y="222250"/>
                  <a:pt x="603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029950" y="6273803"/>
            <a:ext cx="769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85850" y="6559553"/>
            <a:ext cx="1071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automatic error detection and alerting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17500" y="1301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8000" y="1412875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7500" y="210820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3613" y="2219330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17500" y="29146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92919" y="3025777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17500" y="372109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2919" y="3832223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17500" y="452755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4010" y="4638678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17500" y="5334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2224" y="5445125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17500" y="614045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9070" y="6251580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E55C44-C08F-7EE6-2301-121963C50FAF}"/>
              </a:ext>
            </a:extLst>
          </p:cNvPr>
          <p:cNvSpPr txBox="1"/>
          <p:nvPr/>
        </p:nvSpPr>
        <p:spPr>
          <a:xfrm>
            <a:off x="11822728" y="6515688"/>
            <a:ext cx="478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21</a:t>
            </a:r>
            <a:endParaRPr lang="en-IN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3BE8832-BC06-4A2F-4523-C4B2193A9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 &amp;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lessons from building a production-ready serverless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760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4845" y="187452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1760227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Automation is Critical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7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Terraform's Infrastructure as Code enables reproducible deployments, version control, and eliminates configuration drift. Manual resource management is error-prone and non-scalable.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200396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9120" y="33947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93420" y="35090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88720" y="3394714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Must Be Explicit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737614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 IAM is not optional in production. Broad permissions create attack surfaces. Security must be designed in from the start, not bolted on later.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4834901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7912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9133" y="5143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 is Essential in Production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37210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logging, metrics, and alarms are not nice-to-haves. Without visibility, debugging production issues becomes impossible. CloudWatch integration is mandatory.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060" y="1565910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89370" y="1760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17957" y="187452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98970" y="1760227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APIs Integrate Easily in Serverless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8970" y="2103127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HTTP APIs integrate seamlessly with Lambda. Error handling, timeouts, and retry logic are critical for resilient microservice communication.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060" y="3200396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89370" y="33947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03670" y="35090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98970" y="3394714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 Scales Cleanly with Modules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8970" y="3737614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design enables code reuse, reduces blast radius, and supports team collaboration. Flat monolithic configurations become unmaintainable as projects grow.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4834901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76201" y="0"/>
                </a:moveTo>
                <a:lnTo>
                  <a:pt x="5532119" y="0"/>
                </a:lnTo>
                <a:cubicBezTo>
                  <a:pt x="5574204" y="0"/>
                  <a:pt x="5608320" y="34116"/>
                  <a:pt x="5608320" y="76201"/>
                </a:cubicBezTo>
                <a:lnTo>
                  <a:pt x="5608320" y="1398269"/>
                </a:lnTo>
                <a:cubicBezTo>
                  <a:pt x="5608320" y="1440354"/>
                  <a:pt x="5574204" y="1474470"/>
                  <a:pt x="553211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8937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89382" y="5143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98970" y="50292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is Production-Ready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8970" y="537210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Lambda, API Gateway, DynamoDB, and S3 form a robust, scalable, and cost-effective platform for event-driven applications with automatic scaling.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5B2AB7-0811-D230-A898-C116F9B0DC62}"/>
              </a:ext>
            </a:extLst>
          </p:cNvPr>
          <p:cNvSpPr txBox="1"/>
          <p:nvPr/>
        </p:nvSpPr>
        <p:spPr>
          <a:xfrm>
            <a:off x="11803380" y="6488668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22</a:t>
            </a:r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3BF519A-D34B-7446-3A3B-532ED7B0F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OUTCOME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System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serverless application demonstrating industry best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7220" y="19126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25567" y="203645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83970" y="18554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531620" y="1798327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Serverless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4920" y="2103127"/>
            <a:ext cx="2638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server management with automatic scaling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712727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228599"/>
                </a:lnTo>
                <a:cubicBezTo>
                  <a:pt x="619125" y="249628"/>
                  <a:pt x="602053" y="266700"/>
                  <a:pt x="5810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7220" y="2712727"/>
            <a:ext cx="685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11354" y="2712727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38101" y="0"/>
                </a:moveTo>
                <a:lnTo>
                  <a:pt x="847724" y="0"/>
                </a:lnTo>
                <a:cubicBezTo>
                  <a:pt x="868767" y="0"/>
                  <a:pt x="885825" y="17058"/>
                  <a:pt x="885825" y="38101"/>
                </a:cubicBezTo>
                <a:lnTo>
                  <a:pt x="885825" y="228599"/>
                </a:lnTo>
                <a:cubicBezTo>
                  <a:pt x="885825" y="249642"/>
                  <a:pt x="868767" y="266700"/>
                  <a:pt x="8477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11354" y="2712727"/>
            <a:ext cx="9525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77189" y="2712727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77189" y="2712727"/>
            <a:ext cx="8763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65753" y="2712727"/>
            <a:ext cx="295275" cy="266700"/>
          </a:xfrm>
          <a:custGeom>
            <a:avLst/>
            <a:gdLst/>
            <a:ahLst/>
            <a:cxnLst/>
            <a:rect l="l" t="t" r="r" b="b"/>
            <a:pathLst>
              <a:path w="295275" h="266700">
                <a:moveTo>
                  <a:pt x="38101" y="0"/>
                </a:moveTo>
                <a:lnTo>
                  <a:pt x="257174" y="0"/>
                </a:lnTo>
                <a:cubicBezTo>
                  <a:pt x="278217" y="0"/>
                  <a:pt x="295275" y="17058"/>
                  <a:pt x="295275" y="38101"/>
                </a:cubicBezTo>
                <a:lnTo>
                  <a:pt x="295275" y="228599"/>
                </a:lnTo>
                <a:cubicBezTo>
                  <a:pt x="295275" y="249642"/>
                  <a:pt x="278217" y="266700"/>
                  <a:pt x="2571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65753" y="2712727"/>
            <a:ext cx="3619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8270" y="1565910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90680" y="17983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6887" y="19221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57431" y="18554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05081" y="1798327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IAM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381" y="2103127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 access control enforced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0680" y="2484127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38101" y="0"/>
                </a:moveTo>
                <a:lnTo>
                  <a:pt x="609599" y="0"/>
                </a:lnTo>
                <a:cubicBezTo>
                  <a:pt x="630642" y="0"/>
                  <a:pt x="647700" y="17058"/>
                  <a:pt x="647700" y="38101"/>
                </a:cubicBezTo>
                <a:lnTo>
                  <a:pt x="647700" y="228599"/>
                </a:lnTo>
                <a:cubicBezTo>
                  <a:pt x="647700" y="249628"/>
                  <a:pt x="630628" y="266700"/>
                  <a:pt x="609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90680" y="2484127"/>
            <a:ext cx="7143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3985" y="2484127"/>
            <a:ext cx="1200150" cy="266700"/>
          </a:xfrm>
          <a:custGeom>
            <a:avLst/>
            <a:gdLst/>
            <a:ahLst/>
            <a:cxnLst/>
            <a:rect l="l" t="t" r="r" b="b"/>
            <a:pathLst>
              <a:path w="1200150" h="266700">
                <a:moveTo>
                  <a:pt x="38101" y="0"/>
                </a:moveTo>
                <a:lnTo>
                  <a:pt x="1162049" y="0"/>
                </a:lnTo>
                <a:cubicBezTo>
                  <a:pt x="1183092" y="0"/>
                  <a:pt x="1200150" y="17058"/>
                  <a:pt x="1200150" y="38101"/>
                </a:cubicBezTo>
                <a:lnTo>
                  <a:pt x="1200150" y="228599"/>
                </a:lnTo>
                <a:cubicBezTo>
                  <a:pt x="1200150" y="249642"/>
                  <a:pt x="1183092" y="266700"/>
                  <a:pt x="11620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13985" y="2484127"/>
            <a:ext cx="12668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Resources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2484127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38101" y="0"/>
                </a:moveTo>
                <a:lnTo>
                  <a:pt x="914399" y="0"/>
                </a:lnTo>
                <a:cubicBezTo>
                  <a:pt x="935442" y="0"/>
                  <a:pt x="952500" y="17058"/>
                  <a:pt x="952500" y="38101"/>
                </a:cubicBezTo>
                <a:lnTo>
                  <a:pt x="952500" y="228599"/>
                </a:lnTo>
                <a:cubicBezTo>
                  <a:pt x="952500" y="249642"/>
                  <a:pt x="935442" y="266700"/>
                  <a:pt x="9143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2484127"/>
            <a:ext cx="10191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Wildcards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1731" y="1565910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364141" y="19126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490347" y="20364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030891" y="18554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278541" y="1798327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AWS Deployment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11841" y="2103127"/>
            <a:ext cx="2638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production environment with real services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64141" y="2712727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228599"/>
                </a:lnTo>
                <a:cubicBezTo>
                  <a:pt x="609600" y="249628"/>
                  <a:pt x="592528" y="266700"/>
                  <a:pt x="5714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364141" y="2712727"/>
            <a:ext cx="6762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51370" y="2712727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38101" y="0"/>
                </a:moveTo>
                <a:lnTo>
                  <a:pt x="657224" y="0"/>
                </a:lnTo>
                <a:cubicBezTo>
                  <a:pt x="678267" y="0"/>
                  <a:pt x="695325" y="17058"/>
                  <a:pt x="695325" y="38101"/>
                </a:cubicBezTo>
                <a:lnTo>
                  <a:pt x="695325" y="228599"/>
                </a:lnTo>
                <a:cubicBezTo>
                  <a:pt x="695325" y="249628"/>
                  <a:pt x="678253" y="266700"/>
                  <a:pt x="6572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051370" y="2712727"/>
            <a:ext cx="7620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27539" y="2712727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228599"/>
                </a:lnTo>
                <a:cubicBezTo>
                  <a:pt x="781050" y="249628"/>
                  <a:pt x="763978" y="266700"/>
                  <a:pt x="742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827539" y="2712727"/>
            <a:ext cx="847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810" y="3409946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17220" y="37566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43426" y="388048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283970" y="3699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531620" y="3642364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Alerting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64920" y="3947164"/>
            <a:ext cx="2638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observability with CloudWatch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" y="4556764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228599"/>
                </a:lnTo>
                <a:cubicBezTo>
                  <a:pt x="419100" y="249642"/>
                  <a:pt x="402042" y="266700"/>
                  <a:pt x="380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17220" y="4556764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2044" y="4556764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228599"/>
                </a:lnTo>
                <a:cubicBezTo>
                  <a:pt x="581025" y="249628"/>
                  <a:pt x="563953" y="266700"/>
                  <a:pt x="5429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112044" y="4556764"/>
            <a:ext cx="6477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767007" y="4556764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228599"/>
                </a:lnTo>
                <a:cubicBezTo>
                  <a:pt x="561975" y="249628"/>
                  <a:pt x="544903" y="266700"/>
                  <a:pt x="5238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767007" y="4556764"/>
            <a:ext cx="6286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Alarms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58270" y="3409946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490680" y="36423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634746" y="376618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-17859"/>
                </a:moveTo>
                <a:cubicBezTo>
                  <a:pt x="81316" y="-17859"/>
                  <a:pt x="89297" y="-9878"/>
                  <a:pt x="89297" y="0"/>
                </a:cubicBezTo>
                <a:lnTo>
                  <a:pt x="89297" y="53578"/>
                </a:lnTo>
                <a:lnTo>
                  <a:pt x="160734" y="53578"/>
                </a:lnTo>
                <a:lnTo>
                  <a:pt x="160734" y="0"/>
                </a:lnTo>
                <a:cubicBezTo>
                  <a:pt x="160734" y="-9878"/>
                  <a:pt x="168715" y="-17859"/>
                  <a:pt x="178594" y="-17859"/>
                </a:cubicBezTo>
                <a:cubicBezTo>
                  <a:pt x="188472" y="-17859"/>
                  <a:pt x="196453" y="-9878"/>
                  <a:pt x="196453" y="0"/>
                </a:cubicBezTo>
                <a:lnTo>
                  <a:pt x="196453" y="53578"/>
                </a:ln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cubicBezTo>
                  <a:pt x="250031" y="81316"/>
                  <a:pt x="242050" y="89297"/>
                  <a:pt x="232172" y="89297"/>
                </a:cubicBezTo>
                <a:lnTo>
                  <a:pt x="232172" y="125016"/>
                </a:lnTo>
                <a:cubicBezTo>
                  <a:pt x="232172" y="178091"/>
                  <a:pt x="193551" y="222182"/>
                  <a:pt x="142875" y="230665"/>
                </a:cubicBezTo>
                <a:lnTo>
                  <a:pt x="142875" y="267891"/>
                </a:lnTo>
                <a:cubicBezTo>
                  <a:pt x="142875" y="277769"/>
                  <a:pt x="134894" y="285750"/>
                  <a:pt x="125016" y="285750"/>
                </a:cubicBezTo>
                <a:cubicBezTo>
                  <a:pt x="115137" y="285750"/>
                  <a:pt x="107156" y="277769"/>
                  <a:pt x="107156" y="267891"/>
                </a:cubicBezTo>
                <a:lnTo>
                  <a:pt x="107156" y="230665"/>
                </a:lnTo>
                <a:cubicBezTo>
                  <a:pt x="56480" y="222182"/>
                  <a:pt x="17859" y="178091"/>
                  <a:pt x="17859" y="125016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lnTo>
                  <a:pt x="53578" y="0"/>
                </a:lnTo>
                <a:cubicBezTo>
                  <a:pt x="53578" y="-9878"/>
                  <a:pt x="61559" y="-17859"/>
                  <a:pt x="71438" y="-17859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157431" y="3699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405081" y="3642364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Integrations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138381" y="3947164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live HTTP APIs with error handling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90680" y="4328164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228599"/>
                </a:lnTo>
                <a:cubicBezTo>
                  <a:pt x="666750" y="249628"/>
                  <a:pt x="649678" y="266700"/>
                  <a:pt x="6286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490680" y="4328164"/>
            <a:ext cx="7334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229820" y="4328164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228599"/>
                </a:lnTo>
                <a:cubicBezTo>
                  <a:pt x="485775" y="249628"/>
                  <a:pt x="468703" y="266700"/>
                  <a:pt x="447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229820" y="4328164"/>
            <a:ext cx="552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789772" y="4328164"/>
            <a:ext cx="466725" cy="266700"/>
          </a:xfrm>
          <a:custGeom>
            <a:avLst/>
            <a:gdLst/>
            <a:ahLst/>
            <a:cxnLst/>
            <a:rect l="l" t="t" r="r" b="b"/>
            <a:pathLst>
              <a:path w="466725" h="266700">
                <a:moveTo>
                  <a:pt x="38101" y="0"/>
                </a:moveTo>
                <a:lnTo>
                  <a:pt x="428624" y="0"/>
                </a:lnTo>
                <a:cubicBezTo>
                  <a:pt x="449667" y="0"/>
                  <a:pt x="466725" y="17058"/>
                  <a:pt x="466725" y="38101"/>
                </a:cubicBezTo>
                <a:lnTo>
                  <a:pt x="466725" y="228599"/>
                </a:lnTo>
                <a:cubicBezTo>
                  <a:pt x="466725" y="249628"/>
                  <a:pt x="449653" y="266700"/>
                  <a:pt x="4286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789772" y="4328164"/>
            <a:ext cx="5334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Trivia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3292" y="4328164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228599"/>
                </a:lnTo>
                <a:cubicBezTo>
                  <a:pt x="485775" y="249628"/>
                  <a:pt x="468703" y="266700"/>
                  <a:pt x="447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333292" y="4328164"/>
            <a:ext cx="552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31731" y="3409946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76206" y="0"/>
                </a:moveTo>
                <a:lnTo>
                  <a:pt x="3598539" y="0"/>
                </a:lnTo>
                <a:cubicBezTo>
                  <a:pt x="3640626" y="0"/>
                  <a:pt x="3674745" y="34119"/>
                  <a:pt x="3674745" y="76206"/>
                </a:cubicBezTo>
                <a:lnTo>
                  <a:pt x="3674745" y="1569714"/>
                </a:lnTo>
                <a:cubicBezTo>
                  <a:pt x="3674745" y="1611801"/>
                  <a:pt x="3640626" y="1645920"/>
                  <a:pt x="3598539" y="1645920"/>
                </a:cubicBezTo>
                <a:lnTo>
                  <a:pt x="76206" y="1645920"/>
                </a:lnTo>
                <a:cubicBezTo>
                  <a:pt x="34119" y="1645920"/>
                  <a:pt x="0" y="1611801"/>
                  <a:pt x="0" y="15697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364141" y="37566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8490347" y="388048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9030891" y="3699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278541" y="3642364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Lifecycle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011841" y="3947164"/>
            <a:ext cx="2638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IaC automation with Terraform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64141" y="4556764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228599"/>
                </a:lnTo>
                <a:cubicBezTo>
                  <a:pt x="685800" y="249628"/>
                  <a:pt x="668728" y="266700"/>
                  <a:pt x="6476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8364141" y="4556764"/>
            <a:ext cx="7524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121854" y="4556764"/>
            <a:ext cx="571500" cy="266700"/>
          </a:xfrm>
          <a:custGeom>
            <a:avLst/>
            <a:gdLst/>
            <a:ahLst/>
            <a:cxnLst/>
            <a:rect l="l" t="t" r="r" b="b"/>
            <a:pathLst>
              <a:path w="571500" h="2667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228599"/>
                </a:lnTo>
                <a:cubicBezTo>
                  <a:pt x="571500" y="249628"/>
                  <a:pt x="554428" y="266700"/>
                  <a:pt x="5333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9121854" y="4556764"/>
            <a:ext cx="6381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772650" y="4556764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228599"/>
                </a:lnTo>
                <a:cubicBezTo>
                  <a:pt x="609600" y="249628"/>
                  <a:pt x="592528" y="266700"/>
                  <a:pt x="5714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9772650" y="4556764"/>
            <a:ext cx="6762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Destroy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4810" y="5254001"/>
            <a:ext cx="11418570" cy="693420"/>
          </a:xfrm>
          <a:custGeom>
            <a:avLst/>
            <a:gdLst/>
            <a:ahLst/>
            <a:cxnLst/>
            <a:rect l="l" t="t" r="r" b="b"/>
            <a:pathLst>
              <a:path w="11418570" h="6934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17220"/>
                </a:lnTo>
                <a:cubicBezTo>
                  <a:pt x="11418570" y="659304"/>
                  <a:pt x="11384454" y="693420"/>
                  <a:pt x="113423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3046809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418284" y="54673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Serverless Application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103983" y="54483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8EAE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418308" y="54864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Best Practices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002316" y="552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4EFCD0-68B1-902D-3193-876D1360E4C3}"/>
              </a:ext>
            </a:extLst>
          </p:cNvPr>
          <p:cNvSpPr txBox="1"/>
          <p:nvPr/>
        </p:nvSpPr>
        <p:spPr>
          <a:xfrm>
            <a:off x="11742987" y="6463782"/>
            <a:ext cx="478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23</a:t>
            </a:r>
            <a:endParaRPr lang="en-IN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31E2EDD-37E1-C3C7-189F-CA994ADD3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 &amp; Enhancements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next steps for extending the serverless bot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3674745" cy="2407920"/>
          </a:xfrm>
          <a:custGeom>
            <a:avLst/>
            <a:gdLst/>
            <a:ahLst/>
            <a:cxnLst/>
            <a:rect l="l" t="t" r="r" b="b"/>
            <a:pathLst>
              <a:path w="3674745" h="2407920">
                <a:moveTo>
                  <a:pt x="76211" y="0"/>
                </a:moveTo>
                <a:lnTo>
                  <a:pt x="3598534" y="0"/>
                </a:lnTo>
                <a:cubicBezTo>
                  <a:pt x="3640624" y="0"/>
                  <a:pt x="3674745" y="34121"/>
                  <a:pt x="3674745" y="76211"/>
                </a:cubicBezTo>
                <a:lnTo>
                  <a:pt x="3674745" y="2331709"/>
                </a:lnTo>
                <a:cubicBezTo>
                  <a:pt x="3674745" y="2373799"/>
                  <a:pt x="3640624" y="2407920"/>
                  <a:pt x="3598534" y="2407920"/>
                </a:cubicBezTo>
                <a:lnTo>
                  <a:pt x="76211" y="2407920"/>
                </a:lnTo>
                <a:cubicBezTo>
                  <a:pt x="34121" y="2407920"/>
                  <a:pt x="0" y="2373799"/>
                  <a:pt x="0" y="23317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760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3420" y="18745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0620" y="1855477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API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369827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OpenAI's GPT API for AI-powered conversational responses, natural language understanding, and intelligent bot interactions beyond static commands.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512827"/>
            <a:ext cx="276225" cy="266700"/>
          </a:xfrm>
          <a:custGeom>
            <a:avLst/>
            <a:gdLst/>
            <a:ahLst/>
            <a:cxnLst/>
            <a:rect l="l" t="t" r="r" b="b"/>
            <a:pathLst>
              <a:path w="276225" h="266700">
                <a:moveTo>
                  <a:pt x="38101" y="0"/>
                </a:moveTo>
                <a:lnTo>
                  <a:pt x="238124" y="0"/>
                </a:lnTo>
                <a:cubicBezTo>
                  <a:pt x="259167" y="0"/>
                  <a:pt x="276225" y="17058"/>
                  <a:pt x="276225" y="38101"/>
                </a:cubicBezTo>
                <a:lnTo>
                  <a:pt x="276225" y="228599"/>
                </a:lnTo>
                <a:cubicBezTo>
                  <a:pt x="276225" y="249642"/>
                  <a:pt x="259167" y="266700"/>
                  <a:pt x="238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9120" y="3512827"/>
            <a:ext cx="342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759" y="3512827"/>
            <a:ext cx="381000" cy="266700"/>
          </a:xfrm>
          <a:custGeom>
            <a:avLst/>
            <a:gdLst/>
            <a:ahLst/>
            <a:cxnLst/>
            <a:rect l="l" t="t" r="r" b="b"/>
            <a:pathLst>
              <a:path w="381000" h="2667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228599"/>
                </a:lnTo>
                <a:cubicBezTo>
                  <a:pt x="381000" y="249642"/>
                  <a:pt x="363942" y="266700"/>
                  <a:pt x="342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9759" y="3512827"/>
            <a:ext cx="4476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87673" y="3512827"/>
            <a:ext cx="1009650" cy="266700"/>
          </a:xfrm>
          <a:custGeom>
            <a:avLst/>
            <a:gdLst/>
            <a:ahLst/>
            <a:cxnLst/>
            <a:rect l="l" t="t" r="r" b="b"/>
            <a:pathLst>
              <a:path w="1009650" h="266700">
                <a:moveTo>
                  <a:pt x="38101" y="0"/>
                </a:moveTo>
                <a:lnTo>
                  <a:pt x="971549" y="0"/>
                </a:lnTo>
                <a:cubicBezTo>
                  <a:pt x="992592" y="0"/>
                  <a:pt x="1009650" y="17058"/>
                  <a:pt x="1009650" y="38101"/>
                </a:cubicBezTo>
                <a:lnTo>
                  <a:pt x="1009650" y="228599"/>
                </a:lnTo>
                <a:cubicBezTo>
                  <a:pt x="1009650" y="249642"/>
                  <a:pt x="992592" y="266700"/>
                  <a:pt x="9715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87673" y="3512827"/>
            <a:ext cx="10763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8270" y="1565910"/>
            <a:ext cx="3674745" cy="2407920"/>
          </a:xfrm>
          <a:custGeom>
            <a:avLst/>
            <a:gdLst/>
            <a:ahLst/>
            <a:cxnLst/>
            <a:rect l="l" t="t" r="r" b="b"/>
            <a:pathLst>
              <a:path w="3674745" h="2407920">
                <a:moveTo>
                  <a:pt x="76211" y="0"/>
                </a:moveTo>
                <a:lnTo>
                  <a:pt x="3598534" y="0"/>
                </a:lnTo>
                <a:cubicBezTo>
                  <a:pt x="3640624" y="0"/>
                  <a:pt x="3674745" y="34121"/>
                  <a:pt x="3674745" y="76211"/>
                </a:cubicBezTo>
                <a:lnTo>
                  <a:pt x="3674745" y="2331709"/>
                </a:lnTo>
                <a:cubicBezTo>
                  <a:pt x="3674745" y="2373799"/>
                  <a:pt x="3640624" y="2407920"/>
                  <a:pt x="3598534" y="2407920"/>
                </a:cubicBezTo>
                <a:lnTo>
                  <a:pt x="76211" y="2407920"/>
                </a:lnTo>
                <a:cubicBezTo>
                  <a:pt x="34121" y="2407920"/>
                  <a:pt x="0" y="2373799"/>
                  <a:pt x="0" y="23317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52580" y="1760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66880" y="18745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4081" y="1855477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Multi-Environment Setup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2580" y="2369827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separate dev/staging/prod environments with environment-specific configurations, isolated state files, and promotion pipelines.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2580" y="3512827"/>
            <a:ext cx="381000" cy="266700"/>
          </a:xfrm>
          <a:custGeom>
            <a:avLst/>
            <a:gdLst/>
            <a:ahLst/>
            <a:cxnLst/>
            <a:rect l="l" t="t" r="r" b="b"/>
            <a:pathLst>
              <a:path w="381000" h="2667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228599"/>
                </a:lnTo>
                <a:cubicBezTo>
                  <a:pt x="381000" y="249642"/>
                  <a:pt x="363942" y="266700"/>
                  <a:pt x="342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52580" y="3512827"/>
            <a:ext cx="4476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13590" y="3512827"/>
            <a:ext cx="571500" cy="266700"/>
          </a:xfrm>
          <a:custGeom>
            <a:avLst/>
            <a:gdLst/>
            <a:ahLst/>
            <a:cxnLst/>
            <a:rect l="l" t="t" r="r" b="b"/>
            <a:pathLst>
              <a:path w="571500" h="2667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228599"/>
                </a:lnTo>
                <a:cubicBezTo>
                  <a:pt x="571500" y="249628"/>
                  <a:pt x="554428" y="266700"/>
                  <a:pt x="5333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13590" y="3512827"/>
            <a:ext cx="6381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62124" y="3512827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228599"/>
                </a:lnTo>
                <a:cubicBezTo>
                  <a:pt x="419100" y="249642"/>
                  <a:pt x="402042" y="266700"/>
                  <a:pt x="380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62124" y="3512827"/>
            <a:ext cx="4857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1731" y="1565910"/>
            <a:ext cx="3674745" cy="2407920"/>
          </a:xfrm>
          <a:custGeom>
            <a:avLst/>
            <a:gdLst/>
            <a:ahLst/>
            <a:cxnLst/>
            <a:rect l="l" t="t" r="r" b="b"/>
            <a:pathLst>
              <a:path w="3674745" h="2407920">
                <a:moveTo>
                  <a:pt x="76211" y="0"/>
                </a:moveTo>
                <a:lnTo>
                  <a:pt x="3598534" y="0"/>
                </a:lnTo>
                <a:cubicBezTo>
                  <a:pt x="3640624" y="0"/>
                  <a:pt x="3674745" y="34121"/>
                  <a:pt x="3674745" y="76211"/>
                </a:cubicBezTo>
                <a:lnTo>
                  <a:pt x="3674745" y="2331709"/>
                </a:lnTo>
                <a:cubicBezTo>
                  <a:pt x="3674745" y="2373799"/>
                  <a:pt x="3640624" y="2407920"/>
                  <a:pt x="3598534" y="2407920"/>
                </a:cubicBezTo>
                <a:lnTo>
                  <a:pt x="76211" y="2407920"/>
                </a:lnTo>
                <a:cubicBezTo>
                  <a:pt x="34121" y="2407920"/>
                  <a:pt x="0" y="2373799"/>
                  <a:pt x="0" y="233170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326041" y="1760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454628" y="187452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97541" y="1855477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6041" y="2369827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continuous integration and deployment with GitHub Actions or AWS CodePipeline for automated testing, security scanning, and zero-downtime deployments.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26041" y="3512827"/>
            <a:ext cx="828675" cy="266700"/>
          </a:xfrm>
          <a:custGeom>
            <a:avLst/>
            <a:gdLst/>
            <a:ahLst/>
            <a:cxnLst/>
            <a:rect l="l" t="t" r="r" b="b"/>
            <a:pathLst>
              <a:path w="828675" h="266700">
                <a:moveTo>
                  <a:pt x="38101" y="0"/>
                </a:moveTo>
                <a:lnTo>
                  <a:pt x="790574" y="0"/>
                </a:lnTo>
                <a:cubicBezTo>
                  <a:pt x="811617" y="0"/>
                  <a:pt x="828675" y="17058"/>
                  <a:pt x="828675" y="38101"/>
                </a:cubicBezTo>
                <a:lnTo>
                  <a:pt x="828675" y="228599"/>
                </a:lnTo>
                <a:cubicBezTo>
                  <a:pt x="828675" y="249628"/>
                  <a:pt x="811603" y="266700"/>
                  <a:pt x="7905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26041" y="3512827"/>
            <a:ext cx="8953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229725" y="3512827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228599"/>
                </a:lnTo>
                <a:cubicBezTo>
                  <a:pt x="561975" y="249628"/>
                  <a:pt x="544903" y="266700"/>
                  <a:pt x="5238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229725" y="3512827"/>
            <a:ext cx="6286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869448" y="3512827"/>
            <a:ext cx="866775" cy="266700"/>
          </a:xfrm>
          <a:custGeom>
            <a:avLst/>
            <a:gdLst/>
            <a:ahLst/>
            <a:cxnLst/>
            <a:rect l="l" t="t" r="r" b="b"/>
            <a:pathLst>
              <a:path w="866775" h="266700">
                <a:moveTo>
                  <a:pt x="38101" y="0"/>
                </a:moveTo>
                <a:lnTo>
                  <a:pt x="828674" y="0"/>
                </a:lnTo>
                <a:cubicBezTo>
                  <a:pt x="849717" y="0"/>
                  <a:pt x="866775" y="17058"/>
                  <a:pt x="866775" y="38101"/>
                </a:cubicBezTo>
                <a:lnTo>
                  <a:pt x="866775" y="228599"/>
                </a:lnTo>
                <a:cubicBezTo>
                  <a:pt x="866775" y="249642"/>
                  <a:pt x="849717" y="266700"/>
                  <a:pt x="828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869448" y="3512827"/>
            <a:ext cx="933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810" y="4171946"/>
            <a:ext cx="3674745" cy="2446020"/>
          </a:xfrm>
          <a:custGeom>
            <a:avLst/>
            <a:gdLst/>
            <a:ahLst/>
            <a:cxnLst/>
            <a:rect l="l" t="t" r="r" b="b"/>
            <a:pathLst>
              <a:path w="3674745" h="2446020">
                <a:moveTo>
                  <a:pt x="76194" y="0"/>
                </a:moveTo>
                <a:lnTo>
                  <a:pt x="3598551" y="0"/>
                </a:lnTo>
                <a:cubicBezTo>
                  <a:pt x="3640632" y="0"/>
                  <a:pt x="3674745" y="34113"/>
                  <a:pt x="3674745" y="76194"/>
                </a:cubicBezTo>
                <a:lnTo>
                  <a:pt x="3674745" y="2369826"/>
                </a:lnTo>
                <a:cubicBezTo>
                  <a:pt x="3674745" y="2411907"/>
                  <a:pt x="3640632" y="2446020"/>
                  <a:pt x="3598551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79120" y="43662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93420" y="44805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150620" y="446151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9120" y="4975864"/>
            <a:ext cx="3362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API Gateway throttling and usage plans to prevent abuse, control costs, and ensure fair resource allocation across users.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9120" y="6156964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228599"/>
                </a:lnTo>
                <a:cubicBezTo>
                  <a:pt x="704850" y="249628"/>
                  <a:pt x="687778" y="266700"/>
                  <a:pt x="6667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9120" y="6156964"/>
            <a:ext cx="7715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Throttling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359694" y="6156964"/>
            <a:ext cx="876300" cy="266700"/>
          </a:xfrm>
          <a:custGeom>
            <a:avLst/>
            <a:gdLst/>
            <a:ahLst/>
            <a:cxnLst/>
            <a:rect l="l" t="t" r="r" b="b"/>
            <a:pathLst>
              <a:path w="876300" h="266700">
                <a:moveTo>
                  <a:pt x="38101" y="0"/>
                </a:moveTo>
                <a:lnTo>
                  <a:pt x="838199" y="0"/>
                </a:lnTo>
                <a:cubicBezTo>
                  <a:pt x="859242" y="0"/>
                  <a:pt x="876300" y="17058"/>
                  <a:pt x="876300" y="38101"/>
                </a:cubicBezTo>
                <a:lnTo>
                  <a:pt x="876300" y="228599"/>
                </a:lnTo>
                <a:cubicBezTo>
                  <a:pt x="876300" y="249642"/>
                  <a:pt x="859242" y="266700"/>
                  <a:pt x="8381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359694" y="6156964"/>
            <a:ext cx="9429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Control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311003" y="6156964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38101" y="0"/>
                </a:moveTo>
                <a:lnTo>
                  <a:pt x="704849" y="0"/>
                </a:lnTo>
                <a:cubicBezTo>
                  <a:pt x="725892" y="0"/>
                  <a:pt x="742950" y="17058"/>
                  <a:pt x="742950" y="38101"/>
                </a:cubicBezTo>
                <a:lnTo>
                  <a:pt x="742950" y="228599"/>
                </a:lnTo>
                <a:cubicBezTo>
                  <a:pt x="742950" y="249628"/>
                  <a:pt x="725878" y="266700"/>
                  <a:pt x="704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3E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311003" y="6156964"/>
            <a:ext cx="8096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3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58270" y="4171946"/>
            <a:ext cx="3674745" cy="2446020"/>
          </a:xfrm>
          <a:custGeom>
            <a:avLst/>
            <a:gdLst/>
            <a:ahLst/>
            <a:cxnLst/>
            <a:rect l="l" t="t" r="r" b="b"/>
            <a:pathLst>
              <a:path w="3674745" h="2446020">
                <a:moveTo>
                  <a:pt x="76194" y="0"/>
                </a:moveTo>
                <a:lnTo>
                  <a:pt x="3598551" y="0"/>
                </a:lnTo>
                <a:cubicBezTo>
                  <a:pt x="3640632" y="0"/>
                  <a:pt x="3674745" y="34113"/>
                  <a:pt x="3674745" y="76194"/>
                </a:cubicBezTo>
                <a:lnTo>
                  <a:pt x="3674745" y="2369826"/>
                </a:lnTo>
                <a:cubicBezTo>
                  <a:pt x="3674745" y="2411907"/>
                  <a:pt x="3640632" y="2446020"/>
                  <a:pt x="3598551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452580" y="43662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595455" y="448056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24081" y="4461514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Layer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52580" y="4975864"/>
            <a:ext cx="3362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user authentication with Amazon Cognito or custom authorizers for protected commands, user management, and personalized experiences.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52580" y="6156964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228599"/>
                </a:lnTo>
                <a:cubicBezTo>
                  <a:pt x="600075" y="249628"/>
                  <a:pt x="583003" y="266700"/>
                  <a:pt x="5619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452580" y="6156964"/>
            <a:ext cx="6667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28736" y="6156964"/>
            <a:ext cx="428625" cy="266700"/>
          </a:xfrm>
          <a:custGeom>
            <a:avLst/>
            <a:gdLst/>
            <a:ahLst/>
            <a:cxnLst/>
            <a:rect l="l" t="t" r="r" b="b"/>
            <a:pathLst>
              <a:path w="428625" h="2667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228599"/>
                </a:lnTo>
                <a:cubicBezTo>
                  <a:pt x="428625" y="249642"/>
                  <a:pt x="411567" y="266700"/>
                  <a:pt x="390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128736" y="6156964"/>
            <a:ext cx="4953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29989" y="6156964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228599"/>
                </a:lnTo>
                <a:cubicBezTo>
                  <a:pt x="619125" y="249628"/>
                  <a:pt x="602053" y="266700"/>
                  <a:pt x="5810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9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29989" y="6156964"/>
            <a:ext cx="6858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31731" y="4171946"/>
            <a:ext cx="3674745" cy="2446020"/>
          </a:xfrm>
          <a:custGeom>
            <a:avLst/>
            <a:gdLst/>
            <a:ahLst/>
            <a:cxnLst/>
            <a:rect l="l" t="t" r="r" b="b"/>
            <a:pathLst>
              <a:path w="3674745" h="2446020">
                <a:moveTo>
                  <a:pt x="76194" y="0"/>
                </a:moveTo>
                <a:lnTo>
                  <a:pt x="3598551" y="0"/>
                </a:lnTo>
                <a:cubicBezTo>
                  <a:pt x="3640632" y="0"/>
                  <a:pt x="3674745" y="34113"/>
                  <a:pt x="3674745" y="76194"/>
                </a:cubicBezTo>
                <a:lnTo>
                  <a:pt x="3674745" y="2369826"/>
                </a:lnTo>
                <a:cubicBezTo>
                  <a:pt x="3674745" y="2411907"/>
                  <a:pt x="3640632" y="2446020"/>
                  <a:pt x="3598551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23262A"/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8326041" y="43662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454628" y="448056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114300"/>
                </a:moveTo>
                <a:cubicBezTo>
                  <a:pt x="0" y="100500"/>
                  <a:pt x="11204" y="89297"/>
                  <a:pt x="25003" y="89297"/>
                </a:cubicBezTo>
                <a:cubicBezTo>
                  <a:pt x="38803" y="89297"/>
                  <a:pt x="50006" y="100500"/>
                  <a:pt x="50006" y="114300"/>
                </a:cubicBezTo>
                <a:cubicBezTo>
                  <a:pt x="50006" y="128100"/>
                  <a:pt x="38803" y="139303"/>
                  <a:pt x="25003" y="139303"/>
                </a:cubicBezTo>
                <a:cubicBezTo>
                  <a:pt x="11204" y="139303"/>
                  <a:pt x="0" y="128100"/>
                  <a:pt x="0" y="114300"/>
                </a:cubicBezTo>
                <a:close/>
                <a:moveTo>
                  <a:pt x="75009" y="114300"/>
                </a:moveTo>
                <a:cubicBezTo>
                  <a:pt x="75009" y="100500"/>
                  <a:pt x="86213" y="89297"/>
                  <a:pt x="100013" y="89297"/>
                </a:cubicBezTo>
                <a:cubicBezTo>
                  <a:pt x="113812" y="89297"/>
                  <a:pt x="125016" y="100500"/>
                  <a:pt x="125016" y="114300"/>
                </a:cubicBezTo>
                <a:cubicBezTo>
                  <a:pt x="125016" y="128100"/>
                  <a:pt x="113812" y="139303"/>
                  <a:pt x="100013" y="139303"/>
                </a:cubicBezTo>
                <a:cubicBezTo>
                  <a:pt x="86213" y="139303"/>
                  <a:pt x="75009" y="128100"/>
                  <a:pt x="75009" y="114300"/>
                </a:cubicBezTo>
                <a:close/>
                <a:moveTo>
                  <a:pt x="175022" y="89297"/>
                </a:moveTo>
                <a:cubicBezTo>
                  <a:pt x="188821" y="89297"/>
                  <a:pt x="200025" y="100500"/>
                  <a:pt x="200025" y="114300"/>
                </a:cubicBezTo>
                <a:cubicBezTo>
                  <a:pt x="200025" y="128100"/>
                  <a:pt x="188821" y="139303"/>
                  <a:pt x="175022" y="139303"/>
                </a:cubicBezTo>
                <a:cubicBezTo>
                  <a:pt x="161222" y="139303"/>
                  <a:pt x="150019" y="128100"/>
                  <a:pt x="150019" y="114300"/>
                </a:cubicBezTo>
                <a:cubicBezTo>
                  <a:pt x="150019" y="100500"/>
                  <a:pt x="161222" y="89297"/>
                  <a:pt x="175022" y="89297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8897541" y="4461514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Ideas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26041" y="4975864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Database caching with ElastiCache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26041" y="5280664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Message queuing with SQS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26041" y="5585464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Scheduled tasks with EventBridge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26041" y="5890264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Analytics with Kinesis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26041" y="6195064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Multi-region deployment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1A68C8-6F96-0257-6E6C-9522668AC9F0}"/>
              </a:ext>
            </a:extLst>
          </p:cNvPr>
          <p:cNvSpPr txBox="1"/>
          <p:nvPr/>
        </p:nvSpPr>
        <p:spPr>
          <a:xfrm>
            <a:off x="11806476" y="6453362"/>
            <a:ext cx="447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24</a:t>
            </a:r>
            <a:endParaRPr lang="en-IN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239D4979-E34B-675C-416C-804B5524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eksforgeeks.org/4a2cc55946fff77b9e357cbe045cf4208f9b235f.webp"/>
          <p:cNvPicPr>
            <a:picLocks noChangeAspect="1"/>
          </p:cNvPicPr>
          <p:nvPr/>
        </p:nvPicPr>
        <p:blipFill>
          <a:blip r:embed="rId3">
            <a:alphaModFix amt="20000"/>
          </a:blip>
          <a:srcRect l="8175" r="81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3262A">
                  <a:alpha val="90000"/>
                </a:srgbClr>
              </a:gs>
              <a:gs pos="100000">
                <a:srgbClr val="FF990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646301" y="258834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450533" y="0"/>
                </a:moveTo>
                <a:lnTo>
                  <a:pt x="450533" y="0"/>
                </a:lnTo>
                <a:cubicBezTo>
                  <a:pt x="699355" y="0"/>
                  <a:pt x="901065" y="201710"/>
                  <a:pt x="901065" y="450532"/>
                </a:cubicBezTo>
                <a:lnTo>
                  <a:pt x="901065" y="450533"/>
                </a:lnTo>
                <a:cubicBezTo>
                  <a:pt x="901065" y="699355"/>
                  <a:pt x="699355" y="901065"/>
                  <a:pt x="450533" y="901065"/>
                </a:cubicBezTo>
                <a:lnTo>
                  <a:pt x="450533" y="901065"/>
                </a:lnTo>
                <a:cubicBezTo>
                  <a:pt x="201710" y="901065"/>
                  <a:pt x="0" y="699355"/>
                  <a:pt x="0" y="450533"/>
                </a:cubicBezTo>
                <a:lnTo>
                  <a:pt x="0" y="450533"/>
                </a:lnTo>
                <a:cubicBezTo>
                  <a:pt x="0" y="201710"/>
                  <a:pt x="201710" y="0"/>
                  <a:pt x="45053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20320">
            <a:solidFill>
              <a:srgbClr val="FF990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67281" y="479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332565" y="1380885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48413" y="2184435"/>
            <a:ext cx="3295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appreciate your time and attention</a:t>
            </a:r>
          </a:p>
        </p:txBody>
      </p:sp>
      <p:sp>
        <p:nvSpPr>
          <p:cNvPr id="8" name="Shape 5"/>
          <p:cNvSpPr/>
          <p:nvPr/>
        </p:nvSpPr>
        <p:spPr>
          <a:xfrm>
            <a:off x="2182057" y="2944063"/>
            <a:ext cx="2398395" cy="1436370"/>
          </a:xfrm>
          <a:custGeom>
            <a:avLst/>
            <a:gdLst/>
            <a:ahLst/>
            <a:cxnLst/>
            <a:rect l="l" t="t" r="r" b="b"/>
            <a:pathLst>
              <a:path w="2398395" h="1436370">
                <a:moveTo>
                  <a:pt x="76199" y="0"/>
                </a:moveTo>
                <a:lnTo>
                  <a:pt x="2322196" y="0"/>
                </a:lnTo>
                <a:cubicBezTo>
                  <a:pt x="2364279" y="0"/>
                  <a:pt x="2398395" y="34116"/>
                  <a:pt x="2398395" y="76199"/>
                </a:cubicBezTo>
                <a:lnTo>
                  <a:pt x="2398395" y="1360171"/>
                </a:lnTo>
                <a:cubicBezTo>
                  <a:pt x="2398395" y="1402254"/>
                  <a:pt x="2364279" y="1436370"/>
                  <a:pt x="2322196" y="1436370"/>
                </a:cubicBezTo>
                <a:lnTo>
                  <a:pt x="76199" y="1436370"/>
                </a:lnTo>
                <a:cubicBezTo>
                  <a:pt x="34116" y="1436370"/>
                  <a:pt x="0" y="1402254"/>
                  <a:pt x="0" y="136017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202660" y="319843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357318" y="3592293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10837" y="3937478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Solutions Course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13351" y="2945293"/>
            <a:ext cx="2398395" cy="1436370"/>
          </a:xfrm>
          <a:custGeom>
            <a:avLst/>
            <a:gdLst/>
            <a:ahLst/>
            <a:cxnLst/>
            <a:rect l="l" t="t" r="r" b="b"/>
            <a:pathLst>
              <a:path w="2398395" h="1436370">
                <a:moveTo>
                  <a:pt x="76199" y="0"/>
                </a:moveTo>
                <a:lnTo>
                  <a:pt x="2322196" y="0"/>
                </a:lnTo>
                <a:cubicBezTo>
                  <a:pt x="2364279" y="0"/>
                  <a:pt x="2398395" y="34116"/>
                  <a:pt x="2398395" y="76199"/>
                </a:cubicBezTo>
                <a:lnTo>
                  <a:pt x="2398395" y="1360171"/>
                </a:lnTo>
                <a:cubicBezTo>
                  <a:pt x="2398395" y="1402254"/>
                  <a:pt x="2364279" y="1436370"/>
                  <a:pt x="2322196" y="1436370"/>
                </a:cubicBezTo>
                <a:lnTo>
                  <a:pt x="76199" y="1436370"/>
                </a:lnTo>
                <a:cubicBezTo>
                  <a:pt x="34116" y="1436370"/>
                  <a:pt x="0" y="1402254"/>
                  <a:pt x="0" y="136017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00A3E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937647" y="319892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98135" y="3597347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39157" y="3937478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• Terraform • Serverless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08926" y="2945293"/>
            <a:ext cx="2398395" cy="1436370"/>
          </a:xfrm>
          <a:custGeom>
            <a:avLst/>
            <a:gdLst/>
            <a:ahLst/>
            <a:cxnLst/>
            <a:rect l="l" t="t" r="r" b="b"/>
            <a:pathLst>
              <a:path w="2398395" h="1436370">
                <a:moveTo>
                  <a:pt x="76199" y="0"/>
                </a:moveTo>
                <a:lnTo>
                  <a:pt x="2322196" y="0"/>
                </a:lnTo>
                <a:cubicBezTo>
                  <a:pt x="2364279" y="0"/>
                  <a:pt x="2398395" y="34116"/>
                  <a:pt x="2398395" y="76199"/>
                </a:cubicBezTo>
                <a:lnTo>
                  <a:pt x="2398395" y="1360171"/>
                </a:lnTo>
                <a:cubicBezTo>
                  <a:pt x="2398395" y="1402254"/>
                  <a:pt x="2364279" y="1436370"/>
                  <a:pt x="2322196" y="1436370"/>
                </a:cubicBezTo>
                <a:lnTo>
                  <a:pt x="76199" y="1436370"/>
                </a:lnTo>
                <a:cubicBezTo>
                  <a:pt x="34116" y="1436370"/>
                  <a:pt x="0" y="1402254"/>
                  <a:pt x="0" y="136017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23262A">
              <a:alpha val="8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8752164" y="319843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61559" y="0"/>
                  <a:pt x="53578" y="7981"/>
                  <a:pt x="53578" y="17859"/>
                </a:cubicBezTo>
                <a:lnTo>
                  <a:pt x="53578" y="35719"/>
                </a:lnTo>
                <a:lnTo>
                  <a:pt x="35719" y="35719"/>
                </a:lnTo>
                <a:cubicBezTo>
                  <a:pt x="16018" y="35719"/>
                  <a:pt x="0" y="51736"/>
                  <a:pt x="0" y="71438"/>
                </a:cubicBezTo>
                <a:lnTo>
                  <a:pt x="0" y="98227"/>
                </a:lnTo>
                <a:lnTo>
                  <a:pt x="250031" y="98227"/>
                </a:ln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196453" y="35719"/>
                </a:lnTo>
                <a:lnTo>
                  <a:pt x="196453" y="17859"/>
                </a:lnTo>
                <a:cubicBezTo>
                  <a:pt x="196453" y="7981"/>
                  <a:pt x="188472" y="0"/>
                  <a:pt x="178594" y="0"/>
                </a:cubicBezTo>
                <a:cubicBezTo>
                  <a:pt x="168715" y="0"/>
                  <a:pt x="160734" y="7981"/>
                  <a:pt x="160734" y="17859"/>
                </a:cubicBezTo>
                <a:lnTo>
                  <a:pt x="160734" y="35719"/>
                </a:lnTo>
                <a:lnTo>
                  <a:pt x="89297" y="35719"/>
                </a:lnTo>
                <a:lnTo>
                  <a:pt x="89297" y="17859"/>
                </a:lnTo>
                <a:cubicBezTo>
                  <a:pt x="89297" y="7981"/>
                  <a:pt x="81316" y="0"/>
                  <a:pt x="71438" y="0"/>
                </a:cubicBezTo>
                <a:close/>
                <a:moveTo>
                  <a:pt x="0" y="125016"/>
                </a:move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25016"/>
                </a:lnTo>
                <a:lnTo>
                  <a:pt x="0" y="125016"/>
                </a:lnTo>
                <a:close/>
              </a:path>
            </a:pathLst>
          </a:cu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862766" y="3591613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81816" y="3937478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February 2026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21361" y="557499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17D9CD-E05D-F274-20D4-D5984074E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260" y="29684"/>
            <a:ext cx="1140019" cy="684011"/>
          </a:xfrm>
          <a:prstGeom prst="rect">
            <a:avLst/>
          </a:prstGeom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8AE8FD68-E3A4-301F-B8BB-93E18FCE2D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9935" y="19538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5F4F71-A7B1-FC6C-0F87-64A82C046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179" y="4635293"/>
            <a:ext cx="1657788" cy="21129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2440</Words>
  <Application>Microsoft Office PowerPoint</Application>
  <PresentationFormat>Widescreen</PresentationFormat>
  <Paragraphs>625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微软雅黑</vt:lpstr>
      <vt:lpstr>Liter</vt:lpstr>
      <vt:lpstr>Arial</vt:lpstr>
      <vt:lpstr>MiSans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Telegram Bot on AWS using Terraform</dc:title>
  <dc:subject>Serverless Telegram Bot on AWS using Terraform</dc:subject>
  <dc:creator>Kimi</dc:creator>
  <cp:lastModifiedBy>Shreeraj Patil</cp:lastModifiedBy>
  <cp:revision>11</cp:revision>
  <dcterms:created xsi:type="dcterms:W3CDTF">2026-02-06T12:07:39Z</dcterms:created>
  <dcterms:modified xsi:type="dcterms:W3CDTF">2026-02-08T20:33:34Z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{"Label":"Serverless Telegram Bot on AWS using Terraform","ContentProducer":"001191110108MACG2KBH8F10000","ProduceID":"19c32caf-f7a2-832a-8000-00003d4f22cd","ReservedCode1":"","ContentPropagator":"001191110108MACG2KBH8F20000","PropagateID":"19c32caf-f7a2-832a-8000-00003d4f22cd","ReservedCode2":""}</vt:lpwstr>
  </property>
</Properties>
</file>